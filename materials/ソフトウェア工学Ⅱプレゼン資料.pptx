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8288000" cy="10287000"/>
  <p:notesSz cx="6858000" cy="9144000"/>
  <p:embeddedFontLst>
    <p:embeddedFont>
      <p:font typeface="マキナス Square" panose="020B0600070205080204" charset="-128"/>
      <p:regular r:id="rId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svg"/><Relationship Id="rId4" Type="http://schemas.openxmlformats.org/officeDocument/2006/relationships/image" Target="../media/image3.svg"/><Relationship Id="rId9" Type="http://schemas.openxmlformats.org/officeDocument/2006/relationships/image" Target="../media/image8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4.svg"/><Relationship Id="rId7" Type="http://schemas.openxmlformats.org/officeDocument/2006/relationships/image" Target="../media/image27.png"/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26.png"/><Relationship Id="rId10" Type="http://schemas.openxmlformats.org/officeDocument/2006/relationships/image" Target="../media/image30.png"/><Relationship Id="rId4" Type="http://schemas.openxmlformats.org/officeDocument/2006/relationships/image" Target="../media/image25.png"/><Relationship Id="rId9" Type="http://schemas.openxmlformats.org/officeDocument/2006/relationships/image" Target="../media/image29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BAB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821210" y="7591383"/>
            <a:ext cx="14906795" cy="1757123"/>
            <a:chOff x="0" y="0"/>
            <a:chExt cx="19875727" cy="2342830"/>
          </a:xfrm>
        </p:grpSpPr>
        <p:sp>
          <p:nvSpPr>
            <p:cNvPr id="3" name="Freeform 3"/>
            <p:cNvSpPr/>
            <p:nvPr/>
          </p:nvSpPr>
          <p:spPr>
            <a:xfrm>
              <a:off x="11495560" y="120274"/>
              <a:ext cx="2222556" cy="2222556"/>
            </a:xfrm>
            <a:custGeom>
              <a:avLst/>
              <a:gdLst/>
              <a:ahLst/>
              <a:cxnLst/>
              <a:rect l="l" t="t" r="r" b="b"/>
              <a:pathLst>
                <a:path w="2222556" h="2222556">
                  <a:moveTo>
                    <a:pt x="0" y="0"/>
                  </a:moveTo>
                  <a:lnTo>
                    <a:pt x="2222556" y="0"/>
                  </a:lnTo>
                  <a:lnTo>
                    <a:pt x="2222556" y="2222556"/>
                  </a:lnTo>
                  <a:lnTo>
                    <a:pt x="0" y="22225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20999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" name="Freeform 4"/>
            <p:cNvSpPr/>
            <p:nvPr/>
          </p:nvSpPr>
          <p:spPr>
            <a:xfrm>
              <a:off x="5687643" y="120274"/>
              <a:ext cx="2222556" cy="2222556"/>
            </a:xfrm>
            <a:custGeom>
              <a:avLst/>
              <a:gdLst/>
              <a:ahLst/>
              <a:cxnLst/>
              <a:rect l="l" t="t" r="r" b="b"/>
              <a:pathLst>
                <a:path w="2222556" h="2222556">
                  <a:moveTo>
                    <a:pt x="0" y="0"/>
                  </a:moveTo>
                  <a:lnTo>
                    <a:pt x="2222556" y="0"/>
                  </a:lnTo>
                  <a:lnTo>
                    <a:pt x="2222556" y="2222556"/>
                  </a:lnTo>
                  <a:lnTo>
                    <a:pt x="0" y="22225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20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5" name="Freeform 5"/>
            <p:cNvSpPr/>
            <p:nvPr/>
          </p:nvSpPr>
          <p:spPr>
            <a:xfrm>
              <a:off x="0" y="120274"/>
              <a:ext cx="2222556" cy="2222556"/>
            </a:xfrm>
            <a:custGeom>
              <a:avLst/>
              <a:gdLst/>
              <a:ahLst/>
              <a:cxnLst/>
              <a:rect l="l" t="t" r="r" b="b"/>
              <a:pathLst>
                <a:path w="2222556" h="2222556">
                  <a:moveTo>
                    <a:pt x="0" y="0"/>
                  </a:moveTo>
                  <a:lnTo>
                    <a:pt x="2222556" y="0"/>
                  </a:lnTo>
                  <a:lnTo>
                    <a:pt x="2222556" y="2222556"/>
                  </a:lnTo>
                  <a:lnTo>
                    <a:pt x="0" y="22225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20999"/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6" name="Freeform 6"/>
            <p:cNvSpPr/>
            <p:nvPr/>
          </p:nvSpPr>
          <p:spPr>
            <a:xfrm>
              <a:off x="8531464" y="0"/>
              <a:ext cx="2342830" cy="2342830"/>
            </a:xfrm>
            <a:custGeom>
              <a:avLst/>
              <a:gdLst/>
              <a:ahLst/>
              <a:cxnLst/>
              <a:rect l="l" t="t" r="r" b="b"/>
              <a:pathLst>
                <a:path w="2342830" h="2342830">
                  <a:moveTo>
                    <a:pt x="0" y="0"/>
                  </a:moveTo>
                  <a:lnTo>
                    <a:pt x="2342831" y="0"/>
                  </a:lnTo>
                  <a:lnTo>
                    <a:pt x="2342831" y="2342830"/>
                  </a:lnTo>
                  <a:lnTo>
                    <a:pt x="0" y="23428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20999"/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7" name="Freeform 7"/>
            <p:cNvSpPr/>
            <p:nvPr/>
          </p:nvSpPr>
          <p:spPr>
            <a:xfrm>
              <a:off x="17653171" y="120274"/>
              <a:ext cx="2222556" cy="2222556"/>
            </a:xfrm>
            <a:custGeom>
              <a:avLst/>
              <a:gdLst/>
              <a:ahLst/>
              <a:cxnLst/>
              <a:rect l="l" t="t" r="r" b="b"/>
              <a:pathLst>
                <a:path w="2222556" h="2222556">
                  <a:moveTo>
                    <a:pt x="0" y="0"/>
                  </a:moveTo>
                  <a:lnTo>
                    <a:pt x="2222556" y="0"/>
                  </a:lnTo>
                  <a:lnTo>
                    <a:pt x="2222556" y="2222556"/>
                  </a:lnTo>
                  <a:lnTo>
                    <a:pt x="0" y="22225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20999"/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8" name="Freeform 8"/>
            <p:cNvSpPr/>
            <p:nvPr/>
          </p:nvSpPr>
          <p:spPr>
            <a:xfrm>
              <a:off x="2843821" y="120274"/>
              <a:ext cx="2222556" cy="2222556"/>
            </a:xfrm>
            <a:custGeom>
              <a:avLst/>
              <a:gdLst/>
              <a:ahLst/>
              <a:cxnLst/>
              <a:rect l="l" t="t" r="r" b="b"/>
              <a:pathLst>
                <a:path w="2222556" h="2222556">
                  <a:moveTo>
                    <a:pt x="0" y="0"/>
                  </a:moveTo>
                  <a:lnTo>
                    <a:pt x="2222557" y="0"/>
                  </a:lnTo>
                  <a:lnTo>
                    <a:pt x="2222557" y="2222556"/>
                  </a:lnTo>
                  <a:lnTo>
                    <a:pt x="0" y="22225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20999"/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9" name="Freeform 9"/>
            <p:cNvSpPr/>
            <p:nvPr/>
          </p:nvSpPr>
          <p:spPr>
            <a:xfrm>
              <a:off x="14339382" y="120274"/>
              <a:ext cx="2692524" cy="2222556"/>
            </a:xfrm>
            <a:custGeom>
              <a:avLst/>
              <a:gdLst/>
              <a:ahLst/>
              <a:cxnLst/>
              <a:rect l="l" t="t" r="r" b="b"/>
              <a:pathLst>
                <a:path w="2692524" h="2222556">
                  <a:moveTo>
                    <a:pt x="0" y="0"/>
                  </a:moveTo>
                  <a:lnTo>
                    <a:pt x="2692524" y="0"/>
                  </a:lnTo>
                  <a:lnTo>
                    <a:pt x="2692524" y="2222556"/>
                  </a:lnTo>
                  <a:lnTo>
                    <a:pt x="0" y="22225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20999"/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ja-JP" altLang="en-US"/>
            </a:p>
          </p:txBody>
        </p:sp>
      </p:grpSp>
      <p:sp>
        <p:nvSpPr>
          <p:cNvPr id="10" name="Freeform 10"/>
          <p:cNvSpPr/>
          <p:nvPr/>
        </p:nvSpPr>
        <p:spPr>
          <a:xfrm>
            <a:off x="10312272" y="7591383"/>
            <a:ext cx="1666917" cy="1666917"/>
          </a:xfrm>
          <a:custGeom>
            <a:avLst/>
            <a:gdLst/>
            <a:ahLst/>
            <a:cxnLst/>
            <a:rect l="l" t="t" r="r" b="b"/>
            <a:pathLst>
              <a:path w="1666917" h="1666917">
                <a:moveTo>
                  <a:pt x="0" y="0"/>
                </a:moveTo>
                <a:lnTo>
                  <a:pt x="1666918" y="0"/>
                </a:lnTo>
                <a:lnTo>
                  <a:pt x="1666918" y="1666917"/>
                </a:lnTo>
                <a:lnTo>
                  <a:pt x="0" y="166691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ja-JP" altLang="en-US"/>
          </a:p>
        </p:txBody>
      </p:sp>
      <p:sp>
        <p:nvSpPr>
          <p:cNvPr id="11" name="Freeform 11"/>
          <p:cNvSpPr/>
          <p:nvPr/>
        </p:nvSpPr>
        <p:spPr>
          <a:xfrm>
            <a:off x="5956335" y="7591383"/>
            <a:ext cx="1666917" cy="1666917"/>
          </a:xfrm>
          <a:custGeom>
            <a:avLst/>
            <a:gdLst/>
            <a:ahLst/>
            <a:cxnLst/>
            <a:rect l="l" t="t" r="r" b="b"/>
            <a:pathLst>
              <a:path w="1666917" h="1666917">
                <a:moveTo>
                  <a:pt x="0" y="0"/>
                </a:moveTo>
                <a:lnTo>
                  <a:pt x="1666917" y="0"/>
                </a:lnTo>
                <a:lnTo>
                  <a:pt x="1666917" y="1666917"/>
                </a:lnTo>
                <a:lnTo>
                  <a:pt x="0" y="166691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ja-JP" altLang="en-US"/>
          </a:p>
        </p:txBody>
      </p:sp>
      <p:sp>
        <p:nvSpPr>
          <p:cNvPr id="12" name="Freeform 12"/>
          <p:cNvSpPr/>
          <p:nvPr/>
        </p:nvSpPr>
        <p:spPr>
          <a:xfrm>
            <a:off x="1690602" y="7591383"/>
            <a:ext cx="1666917" cy="1666917"/>
          </a:xfrm>
          <a:custGeom>
            <a:avLst/>
            <a:gdLst/>
            <a:ahLst/>
            <a:cxnLst/>
            <a:rect l="l" t="t" r="r" b="b"/>
            <a:pathLst>
              <a:path w="1666917" h="1666917">
                <a:moveTo>
                  <a:pt x="0" y="0"/>
                </a:moveTo>
                <a:lnTo>
                  <a:pt x="1666917" y="0"/>
                </a:lnTo>
                <a:lnTo>
                  <a:pt x="1666917" y="1666917"/>
                </a:lnTo>
                <a:lnTo>
                  <a:pt x="0" y="166691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ja-JP" altLang="en-US"/>
          </a:p>
        </p:txBody>
      </p:sp>
      <p:sp>
        <p:nvSpPr>
          <p:cNvPr id="13" name="Freeform 13"/>
          <p:cNvSpPr/>
          <p:nvPr/>
        </p:nvSpPr>
        <p:spPr>
          <a:xfrm>
            <a:off x="8089201" y="7501177"/>
            <a:ext cx="1757123" cy="1757123"/>
          </a:xfrm>
          <a:custGeom>
            <a:avLst/>
            <a:gdLst/>
            <a:ahLst/>
            <a:cxnLst/>
            <a:rect l="l" t="t" r="r" b="b"/>
            <a:pathLst>
              <a:path w="1757123" h="1757123">
                <a:moveTo>
                  <a:pt x="0" y="0"/>
                </a:moveTo>
                <a:lnTo>
                  <a:pt x="1757122" y="0"/>
                </a:lnTo>
                <a:lnTo>
                  <a:pt x="1757122" y="1757123"/>
                </a:lnTo>
                <a:lnTo>
                  <a:pt x="0" y="175712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ja-JP" altLang="en-US"/>
          </a:p>
        </p:txBody>
      </p:sp>
      <p:sp>
        <p:nvSpPr>
          <p:cNvPr id="14" name="Freeform 14"/>
          <p:cNvSpPr/>
          <p:nvPr/>
        </p:nvSpPr>
        <p:spPr>
          <a:xfrm>
            <a:off x="14930481" y="7591383"/>
            <a:ext cx="1666917" cy="1666917"/>
          </a:xfrm>
          <a:custGeom>
            <a:avLst/>
            <a:gdLst/>
            <a:ahLst/>
            <a:cxnLst/>
            <a:rect l="l" t="t" r="r" b="b"/>
            <a:pathLst>
              <a:path w="1666917" h="1666917">
                <a:moveTo>
                  <a:pt x="0" y="0"/>
                </a:moveTo>
                <a:lnTo>
                  <a:pt x="1666917" y="0"/>
                </a:lnTo>
                <a:lnTo>
                  <a:pt x="1666917" y="1666917"/>
                </a:lnTo>
                <a:lnTo>
                  <a:pt x="0" y="166691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ja-JP" altLang="en-US"/>
          </a:p>
        </p:txBody>
      </p:sp>
      <p:sp>
        <p:nvSpPr>
          <p:cNvPr id="15" name="Freeform 15"/>
          <p:cNvSpPr/>
          <p:nvPr/>
        </p:nvSpPr>
        <p:spPr>
          <a:xfrm>
            <a:off x="3823468" y="7591383"/>
            <a:ext cx="1666917" cy="1666917"/>
          </a:xfrm>
          <a:custGeom>
            <a:avLst/>
            <a:gdLst/>
            <a:ahLst/>
            <a:cxnLst/>
            <a:rect l="l" t="t" r="r" b="b"/>
            <a:pathLst>
              <a:path w="1666917" h="1666917">
                <a:moveTo>
                  <a:pt x="0" y="0"/>
                </a:moveTo>
                <a:lnTo>
                  <a:pt x="1666918" y="0"/>
                </a:lnTo>
                <a:lnTo>
                  <a:pt x="1666918" y="1666917"/>
                </a:lnTo>
                <a:lnTo>
                  <a:pt x="0" y="166691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ja-JP" altLang="en-US"/>
          </a:p>
        </p:txBody>
      </p:sp>
      <p:sp>
        <p:nvSpPr>
          <p:cNvPr id="16" name="Freeform 16"/>
          <p:cNvSpPr/>
          <p:nvPr/>
        </p:nvSpPr>
        <p:spPr>
          <a:xfrm>
            <a:off x="12445139" y="7591383"/>
            <a:ext cx="2019393" cy="1666917"/>
          </a:xfrm>
          <a:custGeom>
            <a:avLst/>
            <a:gdLst/>
            <a:ahLst/>
            <a:cxnLst/>
            <a:rect l="l" t="t" r="r" b="b"/>
            <a:pathLst>
              <a:path w="2019393" h="1666917">
                <a:moveTo>
                  <a:pt x="0" y="0"/>
                </a:moveTo>
                <a:lnTo>
                  <a:pt x="2019393" y="0"/>
                </a:lnTo>
                <a:lnTo>
                  <a:pt x="2019393" y="1666917"/>
                </a:lnTo>
                <a:lnTo>
                  <a:pt x="0" y="166691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ja-JP" altLang="en-US"/>
          </a:p>
        </p:txBody>
      </p:sp>
      <p:grpSp>
        <p:nvGrpSpPr>
          <p:cNvPr id="17" name="Group 17"/>
          <p:cNvGrpSpPr/>
          <p:nvPr/>
        </p:nvGrpSpPr>
        <p:grpSpPr>
          <a:xfrm>
            <a:off x="2298803" y="871306"/>
            <a:ext cx="13951608" cy="4593463"/>
            <a:chOff x="0" y="0"/>
            <a:chExt cx="3674498" cy="1209801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3674498" cy="1209801"/>
            </a:xfrm>
            <a:custGeom>
              <a:avLst/>
              <a:gdLst/>
              <a:ahLst/>
              <a:cxnLst/>
              <a:rect l="l" t="t" r="r" b="b"/>
              <a:pathLst>
                <a:path w="3674498" h="1209801">
                  <a:moveTo>
                    <a:pt x="5549" y="0"/>
                  </a:moveTo>
                  <a:lnTo>
                    <a:pt x="3668949" y="0"/>
                  </a:lnTo>
                  <a:cubicBezTo>
                    <a:pt x="3672013" y="0"/>
                    <a:pt x="3674498" y="2484"/>
                    <a:pt x="3674498" y="5549"/>
                  </a:cubicBezTo>
                  <a:lnTo>
                    <a:pt x="3674498" y="1204252"/>
                  </a:lnTo>
                  <a:cubicBezTo>
                    <a:pt x="3674498" y="1207316"/>
                    <a:pt x="3672013" y="1209801"/>
                    <a:pt x="3668949" y="1209801"/>
                  </a:cubicBezTo>
                  <a:lnTo>
                    <a:pt x="5549" y="1209801"/>
                  </a:lnTo>
                  <a:cubicBezTo>
                    <a:pt x="2484" y="1209801"/>
                    <a:pt x="0" y="1207316"/>
                    <a:pt x="0" y="1204252"/>
                  </a:cubicBezTo>
                  <a:lnTo>
                    <a:pt x="0" y="5549"/>
                  </a:lnTo>
                  <a:cubicBezTo>
                    <a:pt x="0" y="2484"/>
                    <a:pt x="2484" y="0"/>
                    <a:pt x="5549" y="0"/>
                  </a:cubicBez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47625"/>
              <a:ext cx="3674498" cy="125742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2079806" y="771115"/>
            <a:ext cx="13951608" cy="4593463"/>
            <a:chOff x="0" y="0"/>
            <a:chExt cx="3674498" cy="1209801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3674498" cy="1209801"/>
            </a:xfrm>
            <a:custGeom>
              <a:avLst/>
              <a:gdLst/>
              <a:ahLst/>
              <a:cxnLst/>
              <a:rect l="l" t="t" r="r" b="b"/>
              <a:pathLst>
                <a:path w="3674498" h="1209801">
                  <a:moveTo>
                    <a:pt x="5549" y="0"/>
                  </a:moveTo>
                  <a:lnTo>
                    <a:pt x="3668949" y="0"/>
                  </a:lnTo>
                  <a:cubicBezTo>
                    <a:pt x="3672013" y="0"/>
                    <a:pt x="3674498" y="2484"/>
                    <a:pt x="3674498" y="5549"/>
                  </a:cubicBezTo>
                  <a:lnTo>
                    <a:pt x="3674498" y="1204252"/>
                  </a:lnTo>
                  <a:cubicBezTo>
                    <a:pt x="3674498" y="1207316"/>
                    <a:pt x="3672013" y="1209801"/>
                    <a:pt x="3668949" y="1209801"/>
                  </a:cubicBezTo>
                  <a:lnTo>
                    <a:pt x="5549" y="1209801"/>
                  </a:lnTo>
                  <a:cubicBezTo>
                    <a:pt x="2484" y="1209801"/>
                    <a:pt x="0" y="1207316"/>
                    <a:pt x="0" y="1204252"/>
                  </a:cubicBezTo>
                  <a:lnTo>
                    <a:pt x="0" y="5549"/>
                  </a:lnTo>
                  <a:cubicBezTo>
                    <a:pt x="0" y="2484"/>
                    <a:pt x="2484" y="0"/>
                    <a:pt x="5549" y="0"/>
                  </a:cubicBezTo>
                  <a:close/>
                </a:path>
              </a:pathLst>
            </a:custGeom>
            <a:solidFill>
              <a:srgbClr val="F3FDFF"/>
            </a:solidFill>
            <a:ln w="952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47625"/>
              <a:ext cx="3674498" cy="125742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3" name="Freeform 23"/>
          <p:cNvSpPr/>
          <p:nvPr/>
        </p:nvSpPr>
        <p:spPr>
          <a:xfrm>
            <a:off x="7623252" y="5819639"/>
            <a:ext cx="2870480" cy="1226478"/>
          </a:xfrm>
          <a:custGeom>
            <a:avLst/>
            <a:gdLst/>
            <a:ahLst/>
            <a:cxnLst/>
            <a:rect l="l" t="t" r="r" b="b"/>
            <a:pathLst>
              <a:path w="2870480" h="1226478">
                <a:moveTo>
                  <a:pt x="0" y="0"/>
                </a:moveTo>
                <a:lnTo>
                  <a:pt x="2870479" y="0"/>
                </a:lnTo>
                <a:lnTo>
                  <a:pt x="2870479" y="1226477"/>
                </a:lnTo>
                <a:lnTo>
                  <a:pt x="0" y="122647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40000"/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ja-JP" altLang="en-US"/>
          </a:p>
        </p:txBody>
      </p:sp>
      <p:sp>
        <p:nvSpPr>
          <p:cNvPr id="24" name="Freeform 24"/>
          <p:cNvSpPr/>
          <p:nvPr/>
        </p:nvSpPr>
        <p:spPr>
          <a:xfrm>
            <a:off x="7555067" y="5748406"/>
            <a:ext cx="2870480" cy="1226478"/>
          </a:xfrm>
          <a:custGeom>
            <a:avLst/>
            <a:gdLst/>
            <a:ahLst/>
            <a:cxnLst/>
            <a:rect l="l" t="t" r="r" b="b"/>
            <a:pathLst>
              <a:path w="2870480" h="1226478">
                <a:moveTo>
                  <a:pt x="0" y="0"/>
                </a:moveTo>
                <a:lnTo>
                  <a:pt x="2870480" y="0"/>
                </a:lnTo>
                <a:lnTo>
                  <a:pt x="2870480" y="1226478"/>
                </a:lnTo>
                <a:lnTo>
                  <a:pt x="0" y="122647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ja-JP" altLang="en-US"/>
          </a:p>
        </p:txBody>
      </p:sp>
      <p:sp>
        <p:nvSpPr>
          <p:cNvPr id="25" name="TextBox 25"/>
          <p:cNvSpPr txBox="1"/>
          <p:nvPr/>
        </p:nvSpPr>
        <p:spPr>
          <a:xfrm>
            <a:off x="2684896" y="838200"/>
            <a:ext cx="12918208" cy="43806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075"/>
              </a:lnSpc>
            </a:pPr>
            <a:r>
              <a:rPr lang="en-US" sz="10054">
                <a:solidFill>
                  <a:srgbClr val="000000"/>
                </a:solidFill>
                <a:latin typeface="マキナス Square"/>
                <a:ea typeface="マキナス Square"/>
                <a:cs typeface="マキナス Square"/>
                <a:sym typeface="マキナス Square"/>
              </a:rPr>
              <a:t>MAGIC SHOOTING</a:t>
            </a:r>
          </a:p>
          <a:p>
            <a:pPr algn="ctr">
              <a:lnSpc>
                <a:spcPts val="5757"/>
              </a:lnSpc>
            </a:pPr>
            <a:r>
              <a:rPr lang="en-US" sz="4112">
                <a:solidFill>
                  <a:srgbClr val="000000"/>
                </a:solidFill>
                <a:latin typeface="マキナス Square"/>
                <a:ea typeface="マキナス Square"/>
                <a:cs typeface="マキナス Square"/>
                <a:sym typeface="マキナス Square"/>
              </a:rPr>
              <a:t>～属性を駆使して戦う魔法シューティングゲーム～</a:t>
            </a:r>
          </a:p>
          <a:p>
            <a:pPr algn="ctr">
              <a:lnSpc>
                <a:spcPts val="4918"/>
              </a:lnSpc>
            </a:pPr>
            <a:endParaRPr lang="en-US" sz="4112">
              <a:solidFill>
                <a:srgbClr val="000000"/>
              </a:solidFill>
              <a:latin typeface="マキナス Square"/>
              <a:ea typeface="マキナス Square"/>
              <a:cs typeface="マキナス Square"/>
              <a:sym typeface="マキナス Square"/>
            </a:endParaRPr>
          </a:p>
          <a:p>
            <a:pPr algn="l">
              <a:lnSpc>
                <a:spcPts val="4918"/>
              </a:lnSpc>
            </a:pPr>
            <a:r>
              <a:rPr lang="en-US" sz="3512">
                <a:solidFill>
                  <a:srgbClr val="000000"/>
                </a:solidFill>
                <a:latin typeface="マキナス Square"/>
                <a:ea typeface="マキナス Square"/>
                <a:cs typeface="マキナス Square"/>
                <a:sym typeface="マキナス Square"/>
              </a:rPr>
              <a:t>チーム9    4520133A   亀田　佳太    4520225X篠原</a:t>
            </a:r>
          </a:p>
          <a:p>
            <a:pPr algn="l">
              <a:lnSpc>
                <a:spcPts val="4918"/>
              </a:lnSpc>
              <a:spcBef>
                <a:spcPct val="0"/>
              </a:spcBef>
            </a:pPr>
            <a:r>
              <a:rPr lang="en-US" sz="3512">
                <a:solidFill>
                  <a:srgbClr val="000000"/>
                </a:solidFill>
                <a:latin typeface="マキナス Square"/>
                <a:ea typeface="マキナス Square"/>
                <a:cs typeface="マキナス Square"/>
                <a:sym typeface="マキナス Square"/>
              </a:rPr>
              <a:t>　　          4520264B  高橋　睦也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D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1247045"/>
            <a:ext cx="18288000" cy="1144206"/>
            <a:chOff x="0" y="0"/>
            <a:chExt cx="4816593" cy="30135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301355"/>
            </a:xfrm>
            <a:custGeom>
              <a:avLst/>
              <a:gdLst/>
              <a:ahLst/>
              <a:cxnLst/>
              <a:rect l="l" t="t" r="r" b="b"/>
              <a:pathLst>
                <a:path w="4816592" h="301355">
                  <a:moveTo>
                    <a:pt x="0" y="0"/>
                  </a:moveTo>
                  <a:lnTo>
                    <a:pt x="4816592" y="0"/>
                  </a:lnTo>
                  <a:lnTo>
                    <a:pt x="4816592" y="301355"/>
                  </a:lnTo>
                  <a:lnTo>
                    <a:pt x="0" y="301355"/>
                  </a:lnTo>
                  <a:close/>
                </a:path>
              </a:pathLst>
            </a:custGeom>
            <a:solidFill>
              <a:srgbClr val="13BABF"/>
            </a:solidFill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816593" cy="3489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963950" y="1142044"/>
            <a:ext cx="1914467" cy="1580305"/>
          </a:xfrm>
          <a:custGeom>
            <a:avLst/>
            <a:gdLst/>
            <a:ahLst/>
            <a:cxnLst/>
            <a:rect l="l" t="t" r="r" b="b"/>
            <a:pathLst>
              <a:path w="1914467" h="1580305">
                <a:moveTo>
                  <a:pt x="0" y="0"/>
                </a:moveTo>
                <a:lnTo>
                  <a:pt x="1914466" y="0"/>
                </a:lnTo>
                <a:lnTo>
                  <a:pt x="1914466" y="1580305"/>
                </a:lnTo>
                <a:lnTo>
                  <a:pt x="0" y="158030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40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ja-JP" altLang="en-US"/>
          </a:p>
        </p:txBody>
      </p:sp>
      <p:sp>
        <p:nvSpPr>
          <p:cNvPr id="6" name="Freeform 6"/>
          <p:cNvSpPr/>
          <p:nvPr/>
        </p:nvSpPr>
        <p:spPr>
          <a:xfrm>
            <a:off x="835160" y="1028995"/>
            <a:ext cx="1914467" cy="1580305"/>
          </a:xfrm>
          <a:custGeom>
            <a:avLst/>
            <a:gdLst/>
            <a:ahLst/>
            <a:cxnLst/>
            <a:rect l="l" t="t" r="r" b="b"/>
            <a:pathLst>
              <a:path w="1914467" h="1580305">
                <a:moveTo>
                  <a:pt x="0" y="0"/>
                </a:moveTo>
                <a:lnTo>
                  <a:pt x="1914467" y="0"/>
                </a:lnTo>
                <a:lnTo>
                  <a:pt x="1914467" y="1580306"/>
                </a:lnTo>
                <a:lnTo>
                  <a:pt x="0" y="158030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ja-JP" altLang="en-US"/>
          </a:p>
        </p:txBody>
      </p:sp>
      <p:grpSp>
        <p:nvGrpSpPr>
          <p:cNvPr id="7" name="Group 7"/>
          <p:cNvGrpSpPr/>
          <p:nvPr/>
        </p:nvGrpSpPr>
        <p:grpSpPr>
          <a:xfrm>
            <a:off x="8422115" y="3217467"/>
            <a:ext cx="8763215" cy="5821411"/>
            <a:chOff x="0" y="0"/>
            <a:chExt cx="2308007" cy="1533211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308007" cy="1533211"/>
            </a:xfrm>
            <a:custGeom>
              <a:avLst/>
              <a:gdLst/>
              <a:ahLst/>
              <a:cxnLst/>
              <a:rect l="l" t="t" r="r" b="b"/>
              <a:pathLst>
                <a:path w="2308007" h="1533211">
                  <a:moveTo>
                    <a:pt x="8835" y="0"/>
                  </a:moveTo>
                  <a:lnTo>
                    <a:pt x="2299173" y="0"/>
                  </a:lnTo>
                  <a:cubicBezTo>
                    <a:pt x="2304052" y="0"/>
                    <a:pt x="2308007" y="3955"/>
                    <a:pt x="2308007" y="8835"/>
                  </a:cubicBezTo>
                  <a:lnTo>
                    <a:pt x="2308007" y="1524377"/>
                  </a:lnTo>
                  <a:cubicBezTo>
                    <a:pt x="2308007" y="1529256"/>
                    <a:pt x="2304052" y="1533211"/>
                    <a:pt x="2299173" y="1533211"/>
                  </a:cubicBezTo>
                  <a:lnTo>
                    <a:pt x="8835" y="1533211"/>
                  </a:lnTo>
                  <a:cubicBezTo>
                    <a:pt x="3955" y="1533211"/>
                    <a:pt x="0" y="1529256"/>
                    <a:pt x="0" y="1524377"/>
                  </a:cubicBezTo>
                  <a:lnTo>
                    <a:pt x="0" y="8835"/>
                  </a:lnTo>
                  <a:cubicBezTo>
                    <a:pt x="0" y="3955"/>
                    <a:pt x="3955" y="0"/>
                    <a:pt x="8835" y="0"/>
                  </a:cubicBezTo>
                  <a:close/>
                </a:path>
              </a:pathLst>
            </a:custGeom>
            <a:solidFill>
              <a:srgbClr val="C5EF07"/>
            </a:solidFill>
            <a:ln w="952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47625"/>
              <a:ext cx="2308007" cy="15808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440586" y="4180973"/>
            <a:ext cx="7627869" cy="4333244"/>
          </a:xfrm>
          <a:custGeom>
            <a:avLst/>
            <a:gdLst/>
            <a:ahLst/>
            <a:cxnLst/>
            <a:rect l="l" t="t" r="r" b="b"/>
            <a:pathLst>
              <a:path w="7627869" h="4333244">
                <a:moveTo>
                  <a:pt x="0" y="0"/>
                </a:moveTo>
                <a:lnTo>
                  <a:pt x="7627869" y="0"/>
                </a:lnTo>
                <a:lnTo>
                  <a:pt x="7627869" y="4333243"/>
                </a:lnTo>
                <a:lnTo>
                  <a:pt x="0" y="433324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r="-1329"/>
            </a:stretch>
          </a:blipFill>
        </p:spPr>
        <p:txBody>
          <a:bodyPr/>
          <a:lstStyle/>
          <a:p>
            <a:endParaRPr lang="ja-JP" altLang="en-US"/>
          </a:p>
        </p:txBody>
      </p:sp>
      <p:sp>
        <p:nvSpPr>
          <p:cNvPr id="11" name="Freeform 11"/>
          <p:cNvSpPr/>
          <p:nvPr/>
        </p:nvSpPr>
        <p:spPr>
          <a:xfrm>
            <a:off x="1772944" y="8847067"/>
            <a:ext cx="939908" cy="939908"/>
          </a:xfrm>
          <a:custGeom>
            <a:avLst/>
            <a:gdLst/>
            <a:ahLst/>
            <a:cxnLst/>
            <a:rect l="l" t="t" r="r" b="b"/>
            <a:pathLst>
              <a:path w="939908" h="939908">
                <a:moveTo>
                  <a:pt x="0" y="0"/>
                </a:moveTo>
                <a:lnTo>
                  <a:pt x="939908" y="0"/>
                </a:lnTo>
                <a:lnTo>
                  <a:pt x="939908" y="939908"/>
                </a:lnTo>
                <a:lnTo>
                  <a:pt x="0" y="9399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ja-JP" altLang="en-US"/>
          </a:p>
        </p:txBody>
      </p:sp>
      <p:sp>
        <p:nvSpPr>
          <p:cNvPr id="12" name="Freeform 12"/>
          <p:cNvSpPr/>
          <p:nvPr/>
        </p:nvSpPr>
        <p:spPr>
          <a:xfrm>
            <a:off x="3846327" y="8659044"/>
            <a:ext cx="1315954" cy="1315954"/>
          </a:xfrm>
          <a:custGeom>
            <a:avLst/>
            <a:gdLst/>
            <a:ahLst/>
            <a:cxnLst/>
            <a:rect l="l" t="t" r="r" b="b"/>
            <a:pathLst>
              <a:path w="1315954" h="1315954">
                <a:moveTo>
                  <a:pt x="0" y="0"/>
                </a:moveTo>
                <a:lnTo>
                  <a:pt x="1315954" y="0"/>
                </a:lnTo>
                <a:lnTo>
                  <a:pt x="1315954" y="1315954"/>
                </a:lnTo>
                <a:lnTo>
                  <a:pt x="0" y="131595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ja-JP" altLang="en-US"/>
          </a:p>
        </p:txBody>
      </p:sp>
      <p:sp>
        <p:nvSpPr>
          <p:cNvPr id="13" name="Freeform 13"/>
          <p:cNvSpPr/>
          <p:nvPr/>
        </p:nvSpPr>
        <p:spPr>
          <a:xfrm>
            <a:off x="6267360" y="8675349"/>
            <a:ext cx="1283345" cy="1316156"/>
          </a:xfrm>
          <a:custGeom>
            <a:avLst/>
            <a:gdLst/>
            <a:ahLst/>
            <a:cxnLst/>
            <a:rect l="l" t="t" r="r" b="b"/>
            <a:pathLst>
              <a:path w="1283345" h="1316156">
                <a:moveTo>
                  <a:pt x="0" y="0"/>
                </a:moveTo>
                <a:lnTo>
                  <a:pt x="1283345" y="0"/>
                </a:lnTo>
                <a:lnTo>
                  <a:pt x="1283345" y="1316156"/>
                </a:lnTo>
                <a:lnTo>
                  <a:pt x="0" y="131615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278" r="-1278"/>
            </a:stretch>
          </a:blipFill>
        </p:spPr>
        <p:txBody>
          <a:bodyPr/>
          <a:lstStyle/>
          <a:p>
            <a:endParaRPr lang="ja-JP" altLang="en-US"/>
          </a:p>
        </p:txBody>
      </p:sp>
      <p:sp>
        <p:nvSpPr>
          <p:cNvPr id="14" name="TextBox 14"/>
          <p:cNvSpPr txBox="1"/>
          <p:nvPr/>
        </p:nvSpPr>
        <p:spPr>
          <a:xfrm>
            <a:off x="3106192" y="1332294"/>
            <a:ext cx="6256826" cy="8784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194"/>
              </a:lnSpc>
              <a:spcBef>
                <a:spcPct val="0"/>
              </a:spcBef>
            </a:pPr>
            <a:r>
              <a:rPr lang="en-US" sz="5139">
                <a:solidFill>
                  <a:srgbClr val="000000"/>
                </a:solidFill>
                <a:latin typeface="マキナス Square"/>
                <a:ea typeface="マキナス Square"/>
                <a:cs typeface="マキナス Square"/>
                <a:sym typeface="マキナス Square"/>
              </a:rPr>
              <a:t>ゲームの概要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682281" y="3316715"/>
            <a:ext cx="8094304" cy="55528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30"/>
              </a:lnSpc>
            </a:pPr>
            <a:r>
              <a:rPr lang="en-US" sz="3164">
                <a:solidFill>
                  <a:srgbClr val="000000"/>
                </a:solidFill>
                <a:latin typeface="マキナス Square"/>
                <a:ea typeface="マキナス Square"/>
                <a:cs typeface="マキナス Square"/>
                <a:sym typeface="マキナス Square"/>
              </a:rPr>
              <a:t>・縦スクロールシューティングゲーム</a:t>
            </a:r>
          </a:p>
          <a:p>
            <a:pPr algn="l">
              <a:lnSpc>
                <a:spcPts val="4430"/>
              </a:lnSpc>
            </a:pPr>
            <a:r>
              <a:rPr lang="en-US" sz="3164">
                <a:solidFill>
                  <a:srgbClr val="000000"/>
                </a:solidFill>
                <a:latin typeface="マキナス Square"/>
                <a:ea typeface="マキナス Square"/>
                <a:cs typeface="マキナス Square"/>
                <a:sym typeface="マキナス Square"/>
              </a:rPr>
              <a:t>・全3ステージ</a:t>
            </a:r>
          </a:p>
          <a:p>
            <a:pPr algn="l">
              <a:lnSpc>
                <a:spcPts val="4430"/>
              </a:lnSpc>
            </a:pPr>
            <a:r>
              <a:rPr lang="en-US" sz="3164">
                <a:solidFill>
                  <a:srgbClr val="000000"/>
                </a:solidFill>
                <a:latin typeface="マキナス Square"/>
                <a:ea typeface="マキナス Square"/>
                <a:cs typeface="マキナス Square"/>
                <a:sym typeface="マキナス Square"/>
              </a:rPr>
              <a:t>・ステージの最期にはボスも登場！</a:t>
            </a:r>
          </a:p>
          <a:p>
            <a:pPr algn="l">
              <a:lnSpc>
                <a:spcPts val="4430"/>
              </a:lnSpc>
            </a:pPr>
            <a:r>
              <a:rPr lang="en-US" sz="3164">
                <a:solidFill>
                  <a:srgbClr val="000000"/>
                </a:solidFill>
                <a:latin typeface="マキナス Square"/>
                <a:ea typeface="マキナス Square"/>
                <a:cs typeface="マキナス Square"/>
                <a:sym typeface="マキナス Square"/>
              </a:rPr>
              <a:t>・魔法属性（水・炎・雷）を切り替え　</a:t>
            </a:r>
          </a:p>
          <a:p>
            <a:pPr algn="l">
              <a:lnSpc>
                <a:spcPts val="4430"/>
              </a:lnSpc>
            </a:pPr>
            <a:r>
              <a:rPr lang="en-US" sz="3164">
                <a:solidFill>
                  <a:srgbClr val="000000"/>
                </a:solidFill>
                <a:latin typeface="マキナス Square"/>
                <a:ea typeface="マキナス Square"/>
                <a:cs typeface="マキナス Square"/>
                <a:sym typeface="マキナス Square"/>
              </a:rPr>
              <a:t>　て戦う</a:t>
            </a:r>
          </a:p>
          <a:p>
            <a:pPr algn="l">
              <a:lnSpc>
                <a:spcPts val="4430"/>
              </a:lnSpc>
            </a:pPr>
            <a:r>
              <a:rPr lang="en-US" sz="3164">
                <a:solidFill>
                  <a:srgbClr val="000000"/>
                </a:solidFill>
                <a:latin typeface="マキナス Square"/>
                <a:ea typeface="マキナス Square"/>
                <a:cs typeface="マキナス Square"/>
                <a:sym typeface="マキナス Square"/>
              </a:rPr>
              <a:t>　敵：炎　→　弱点：水</a:t>
            </a:r>
          </a:p>
          <a:p>
            <a:pPr algn="l">
              <a:lnSpc>
                <a:spcPts val="4430"/>
              </a:lnSpc>
            </a:pPr>
            <a:r>
              <a:rPr lang="en-US" sz="3164">
                <a:solidFill>
                  <a:srgbClr val="000000"/>
                </a:solidFill>
                <a:latin typeface="マキナス Square"/>
                <a:ea typeface="マキナス Square"/>
                <a:cs typeface="マキナス Square"/>
                <a:sym typeface="マキナス Square"/>
              </a:rPr>
              <a:t>　敵：氷　→　弱点：炎</a:t>
            </a:r>
          </a:p>
          <a:p>
            <a:pPr algn="l">
              <a:lnSpc>
                <a:spcPts val="4430"/>
              </a:lnSpc>
            </a:pPr>
            <a:r>
              <a:rPr lang="en-US" sz="3164">
                <a:solidFill>
                  <a:srgbClr val="000000"/>
                </a:solidFill>
                <a:latin typeface="マキナス Square"/>
                <a:ea typeface="マキナス Square"/>
                <a:cs typeface="マキナス Square"/>
                <a:sym typeface="マキナス Square"/>
              </a:rPr>
              <a:t>　敵：風　→　弱点：雷</a:t>
            </a:r>
          </a:p>
          <a:p>
            <a:pPr algn="l">
              <a:lnSpc>
                <a:spcPts val="4430"/>
              </a:lnSpc>
            </a:pPr>
            <a:r>
              <a:rPr lang="en-US" sz="3164">
                <a:solidFill>
                  <a:srgbClr val="000000"/>
                </a:solidFill>
                <a:latin typeface="マキナス Square"/>
                <a:ea typeface="マキナス Square"/>
                <a:cs typeface="マキナス Square"/>
                <a:sym typeface="マキナス Square"/>
              </a:rPr>
              <a:t>・無敵/回復アイテムも出現！</a:t>
            </a:r>
          </a:p>
          <a:p>
            <a:pPr algn="l">
              <a:lnSpc>
                <a:spcPts val="4430"/>
              </a:lnSpc>
              <a:spcBef>
                <a:spcPct val="0"/>
              </a:spcBef>
            </a:pPr>
            <a:r>
              <a:rPr lang="en-US" sz="3164">
                <a:solidFill>
                  <a:srgbClr val="000000"/>
                </a:solidFill>
                <a:latin typeface="マキナス Square"/>
                <a:ea typeface="マキナス Square"/>
                <a:cs typeface="マキナス Square"/>
                <a:sym typeface="マキナス Square"/>
              </a:rPr>
              <a:t>・ステージクリアごとに武器が進化</a:t>
            </a:r>
          </a:p>
        </p:txBody>
      </p:sp>
      <p:sp>
        <p:nvSpPr>
          <p:cNvPr id="16" name="AutoShape 16"/>
          <p:cNvSpPr/>
          <p:nvPr/>
        </p:nvSpPr>
        <p:spPr>
          <a:xfrm>
            <a:off x="2712852" y="9317021"/>
            <a:ext cx="1133475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AutoShape 17"/>
          <p:cNvSpPr/>
          <p:nvPr/>
        </p:nvSpPr>
        <p:spPr>
          <a:xfrm>
            <a:off x="5162281" y="9317021"/>
            <a:ext cx="1105079" cy="1640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ja-JP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D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1247045"/>
            <a:ext cx="18288000" cy="1144206"/>
            <a:chOff x="0" y="0"/>
            <a:chExt cx="4816593" cy="30135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301355"/>
            </a:xfrm>
            <a:custGeom>
              <a:avLst/>
              <a:gdLst/>
              <a:ahLst/>
              <a:cxnLst/>
              <a:rect l="l" t="t" r="r" b="b"/>
              <a:pathLst>
                <a:path w="4816592" h="301355">
                  <a:moveTo>
                    <a:pt x="0" y="0"/>
                  </a:moveTo>
                  <a:lnTo>
                    <a:pt x="4816592" y="0"/>
                  </a:lnTo>
                  <a:lnTo>
                    <a:pt x="4816592" y="301355"/>
                  </a:lnTo>
                  <a:lnTo>
                    <a:pt x="0" y="301355"/>
                  </a:lnTo>
                  <a:close/>
                </a:path>
              </a:pathLst>
            </a:custGeom>
            <a:solidFill>
              <a:srgbClr val="13BABF"/>
            </a:solidFill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816593" cy="3489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963950" y="1142044"/>
            <a:ext cx="1914467" cy="1580305"/>
          </a:xfrm>
          <a:custGeom>
            <a:avLst/>
            <a:gdLst/>
            <a:ahLst/>
            <a:cxnLst/>
            <a:rect l="l" t="t" r="r" b="b"/>
            <a:pathLst>
              <a:path w="1914467" h="1580305">
                <a:moveTo>
                  <a:pt x="0" y="0"/>
                </a:moveTo>
                <a:lnTo>
                  <a:pt x="1914466" y="0"/>
                </a:lnTo>
                <a:lnTo>
                  <a:pt x="1914466" y="1580305"/>
                </a:lnTo>
                <a:lnTo>
                  <a:pt x="0" y="158030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40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ja-JP" altLang="en-US"/>
          </a:p>
        </p:txBody>
      </p:sp>
      <p:sp>
        <p:nvSpPr>
          <p:cNvPr id="6" name="Freeform 6"/>
          <p:cNvSpPr/>
          <p:nvPr/>
        </p:nvSpPr>
        <p:spPr>
          <a:xfrm>
            <a:off x="835160" y="1028995"/>
            <a:ext cx="1914467" cy="1580305"/>
          </a:xfrm>
          <a:custGeom>
            <a:avLst/>
            <a:gdLst/>
            <a:ahLst/>
            <a:cxnLst/>
            <a:rect l="l" t="t" r="r" b="b"/>
            <a:pathLst>
              <a:path w="1914467" h="1580305">
                <a:moveTo>
                  <a:pt x="0" y="0"/>
                </a:moveTo>
                <a:lnTo>
                  <a:pt x="1914467" y="0"/>
                </a:lnTo>
                <a:lnTo>
                  <a:pt x="1914467" y="1580306"/>
                </a:lnTo>
                <a:lnTo>
                  <a:pt x="0" y="158030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ja-JP" altLang="en-US"/>
          </a:p>
        </p:txBody>
      </p:sp>
      <p:sp>
        <p:nvSpPr>
          <p:cNvPr id="7" name="Freeform 7"/>
          <p:cNvSpPr/>
          <p:nvPr/>
        </p:nvSpPr>
        <p:spPr>
          <a:xfrm>
            <a:off x="2048260" y="2875818"/>
            <a:ext cx="1440657" cy="1440657"/>
          </a:xfrm>
          <a:custGeom>
            <a:avLst/>
            <a:gdLst/>
            <a:ahLst/>
            <a:cxnLst/>
            <a:rect l="l" t="t" r="r" b="b"/>
            <a:pathLst>
              <a:path w="1440657" h="1440657">
                <a:moveTo>
                  <a:pt x="0" y="0"/>
                </a:moveTo>
                <a:lnTo>
                  <a:pt x="1440657" y="0"/>
                </a:lnTo>
                <a:lnTo>
                  <a:pt x="1440657" y="1440657"/>
                </a:lnTo>
                <a:lnTo>
                  <a:pt x="0" y="144065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ja-JP" altLang="en-US"/>
          </a:p>
        </p:txBody>
      </p:sp>
      <p:sp>
        <p:nvSpPr>
          <p:cNvPr id="8" name="Freeform 8"/>
          <p:cNvSpPr/>
          <p:nvPr/>
        </p:nvSpPr>
        <p:spPr>
          <a:xfrm>
            <a:off x="2004823" y="4364100"/>
            <a:ext cx="1604088" cy="1604088"/>
          </a:xfrm>
          <a:custGeom>
            <a:avLst/>
            <a:gdLst/>
            <a:ahLst/>
            <a:cxnLst/>
            <a:rect l="l" t="t" r="r" b="b"/>
            <a:pathLst>
              <a:path w="1604088" h="1604088">
                <a:moveTo>
                  <a:pt x="0" y="0"/>
                </a:moveTo>
                <a:lnTo>
                  <a:pt x="1604088" y="0"/>
                </a:lnTo>
                <a:lnTo>
                  <a:pt x="1604088" y="1604088"/>
                </a:lnTo>
                <a:lnTo>
                  <a:pt x="0" y="160408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ja-JP" altLang="en-US"/>
          </a:p>
        </p:txBody>
      </p:sp>
      <p:sp>
        <p:nvSpPr>
          <p:cNvPr id="9" name="Freeform 9"/>
          <p:cNvSpPr/>
          <p:nvPr/>
        </p:nvSpPr>
        <p:spPr>
          <a:xfrm>
            <a:off x="2004823" y="6019277"/>
            <a:ext cx="1442587" cy="1573731"/>
          </a:xfrm>
          <a:custGeom>
            <a:avLst/>
            <a:gdLst/>
            <a:ahLst/>
            <a:cxnLst/>
            <a:rect l="l" t="t" r="r" b="b"/>
            <a:pathLst>
              <a:path w="1442587" h="1573731">
                <a:moveTo>
                  <a:pt x="0" y="0"/>
                </a:moveTo>
                <a:lnTo>
                  <a:pt x="1442587" y="0"/>
                </a:lnTo>
                <a:lnTo>
                  <a:pt x="1442587" y="1573731"/>
                </a:lnTo>
                <a:lnTo>
                  <a:pt x="0" y="157373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ja-JP" altLang="en-US"/>
          </a:p>
        </p:txBody>
      </p:sp>
      <p:sp>
        <p:nvSpPr>
          <p:cNvPr id="10" name="Freeform 10"/>
          <p:cNvSpPr/>
          <p:nvPr/>
        </p:nvSpPr>
        <p:spPr>
          <a:xfrm>
            <a:off x="2198835" y="7728701"/>
            <a:ext cx="1248575" cy="1248575"/>
          </a:xfrm>
          <a:custGeom>
            <a:avLst/>
            <a:gdLst/>
            <a:ahLst/>
            <a:cxnLst/>
            <a:rect l="l" t="t" r="r" b="b"/>
            <a:pathLst>
              <a:path w="1248575" h="1248575">
                <a:moveTo>
                  <a:pt x="0" y="0"/>
                </a:moveTo>
                <a:lnTo>
                  <a:pt x="1248575" y="0"/>
                </a:lnTo>
                <a:lnTo>
                  <a:pt x="1248575" y="1248575"/>
                </a:lnTo>
                <a:lnTo>
                  <a:pt x="0" y="124857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ja-JP" altLang="en-US"/>
          </a:p>
        </p:txBody>
      </p:sp>
      <p:sp>
        <p:nvSpPr>
          <p:cNvPr id="11" name="Freeform 11"/>
          <p:cNvSpPr/>
          <p:nvPr/>
        </p:nvSpPr>
        <p:spPr>
          <a:xfrm>
            <a:off x="10183982" y="7833476"/>
            <a:ext cx="1256935" cy="1256935"/>
          </a:xfrm>
          <a:custGeom>
            <a:avLst/>
            <a:gdLst/>
            <a:ahLst/>
            <a:cxnLst/>
            <a:rect l="l" t="t" r="r" b="b"/>
            <a:pathLst>
              <a:path w="1256935" h="1256935">
                <a:moveTo>
                  <a:pt x="0" y="0"/>
                </a:moveTo>
                <a:lnTo>
                  <a:pt x="1256934" y="0"/>
                </a:lnTo>
                <a:lnTo>
                  <a:pt x="1256934" y="1256935"/>
                </a:lnTo>
                <a:lnTo>
                  <a:pt x="0" y="125693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ja-JP" altLang="en-US"/>
          </a:p>
        </p:txBody>
      </p:sp>
      <p:sp>
        <p:nvSpPr>
          <p:cNvPr id="12" name="Freeform 12"/>
          <p:cNvSpPr/>
          <p:nvPr/>
        </p:nvSpPr>
        <p:spPr>
          <a:xfrm>
            <a:off x="10111138" y="3019784"/>
            <a:ext cx="1365302" cy="1412763"/>
          </a:xfrm>
          <a:custGeom>
            <a:avLst/>
            <a:gdLst/>
            <a:ahLst/>
            <a:cxnLst/>
            <a:rect l="l" t="t" r="r" b="b"/>
            <a:pathLst>
              <a:path w="1365302" h="1412763">
                <a:moveTo>
                  <a:pt x="0" y="0"/>
                </a:moveTo>
                <a:lnTo>
                  <a:pt x="1365302" y="0"/>
                </a:lnTo>
                <a:lnTo>
                  <a:pt x="1365302" y="1412763"/>
                </a:lnTo>
                <a:lnTo>
                  <a:pt x="0" y="141276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ja-JP" altLang="en-US"/>
          </a:p>
        </p:txBody>
      </p:sp>
      <p:sp>
        <p:nvSpPr>
          <p:cNvPr id="13" name="Freeform 13"/>
          <p:cNvSpPr/>
          <p:nvPr/>
        </p:nvSpPr>
        <p:spPr>
          <a:xfrm>
            <a:off x="10029223" y="4603727"/>
            <a:ext cx="1566451" cy="1537386"/>
          </a:xfrm>
          <a:custGeom>
            <a:avLst/>
            <a:gdLst/>
            <a:ahLst/>
            <a:cxnLst/>
            <a:rect l="l" t="t" r="r" b="b"/>
            <a:pathLst>
              <a:path w="1566451" h="1537386">
                <a:moveTo>
                  <a:pt x="0" y="0"/>
                </a:moveTo>
                <a:lnTo>
                  <a:pt x="1566451" y="0"/>
                </a:lnTo>
                <a:lnTo>
                  <a:pt x="1566451" y="1537386"/>
                </a:lnTo>
                <a:lnTo>
                  <a:pt x="0" y="153738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ja-JP" altLang="en-US"/>
          </a:p>
        </p:txBody>
      </p:sp>
      <p:sp>
        <p:nvSpPr>
          <p:cNvPr id="14" name="Freeform 14"/>
          <p:cNvSpPr/>
          <p:nvPr/>
        </p:nvSpPr>
        <p:spPr>
          <a:xfrm>
            <a:off x="10098793" y="6249746"/>
            <a:ext cx="1507840" cy="1478955"/>
          </a:xfrm>
          <a:custGeom>
            <a:avLst/>
            <a:gdLst/>
            <a:ahLst/>
            <a:cxnLst/>
            <a:rect l="l" t="t" r="r" b="b"/>
            <a:pathLst>
              <a:path w="1507840" h="1478955">
                <a:moveTo>
                  <a:pt x="0" y="0"/>
                </a:moveTo>
                <a:lnTo>
                  <a:pt x="1507840" y="0"/>
                </a:lnTo>
                <a:lnTo>
                  <a:pt x="1507840" y="1478955"/>
                </a:lnTo>
                <a:lnTo>
                  <a:pt x="0" y="147895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ja-JP" altLang="en-US"/>
          </a:p>
        </p:txBody>
      </p:sp>
      <p:sp>
        <p:nvSpPr>
          <p:cNvPr id="15" name="TextBox 15"/>
          <p:cNvSpPr txBox="1"/>
          <p:nvPr/>
        </p:nvSpPr>
        <p:spPr>
          <a:xfrm>
            <a:off x="4104635" y="3398553"/>
            <a:ext cx="5039365" cy="6888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05"/>
              </a:lnSpc>
              <a:spcBef>
                <a:spcPct val="0"/>
              </a:spcBef>
            </a:pPr>
            <a:r>
              <a:rPr lang="en-US" sz="4003">
                <a:solidFill>
                  <a:srgbClr val="000000"/>
                </a:solidFill>
                <a:latin typeface="マキナス Square"/>
                <a:ea typeface="マキナス Square"/>
                <a:cs typeface="マキナス Square"/>
                <a:sym typeface="マキナス Square"/>
              </a:rPr>
              <a:t>炎の精霊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104635" y="4930766"/>
            <a:ext cx="5039365" cy="6888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05"/>
              </a:lnSpc>
              <a:spcBef>
                <a:spcPct val="0"/>
              </a:spcBef>
            </a:pPr>
            <a:r>
              <a:rPr lang="en-US" sz="4003">
                <a:solidFill>
                  <a:srgbClr val="000000"/>
                </a:solidFill>
                <a:latin typeface="マキナス Square"/>
                <a:ea typeface="マキナス Square"/>
                <a:cs typeface="マキナス Square"/>
                <a:sym typeface="マキナス Square"/>
              </a:rPr>
              <a:t>アイスゴーレム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104635" y="6533373"/>
            <a:ext cx="5039365" cy="6888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05"/>
              </a:lnSpc>
              <a:spcBef>
                <a:spcPct val="0"/>
              </a:spcBef>
            </a:pPr>
            <a:r>
              <a:rPr lang="en-US" sz="4003">
                <a:solidFill>
                  <a:srgbClr val="000000"/>
                </a:solidFill>
                <a:latin typeface="マキナス Square"/>
                <a:ea typeface="マキナス Square"/>
                <a:cs typeface="マキナス Square"/>
                <a:sym typeface="マキナス Square"/>
              </a:rPr>
              <a:t>風の妖精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104635" y="7994204"/>
            <a:ext cx="4866763" cy="6888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05"/>
              </a:lnSpc>
              <a:spcBef>
                <a:spcPct val="0"/>
              </a:spcBef>
            </a:pPr>
            <a:r>
              <a:rPr lang="en-US" sz="4003">
                <a:solidFill>
                  <a:srgbClr val="000000"/>
                </a:solidFill>
                <a:latin typeface="マキナス Square"/>
                <a:ea typeface="マキナス Square"/>
                <a:cs typeface="マキナス Square"/>
                <a:sym typeface="マキナス Square"/>
              </a:rPr>
              <a:t>回復アイテム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2135753" y="4930766"/>
            <a:ext cx="5123547" cy="6888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05"/>
              </a:lnSpc>
              <a:spcBef>
                <a:spcPct val="0"/>
              </a:spcBef>
            </a:pPr>
            <a:r>
              <a:rPr lang="en-US" sz="4003">
                <a:solidFill>
                  <a:srgbClr val="000000"/>
                </a:solidFill>
                <a:latin typeface="マキナス Square"/>
                <a:ea typeface="マキナス Square"/>
                <a:cs typeface="マキナス Square"/>
                <a:sym typeface="マキナス Square"/>
              </a:rPr>
              <a:t>ステージ2のボス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2135753" y="6533373"/>
            <a:ext cx="5123547" cy="6888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05"/>
              </a:lnSpc>
              <a:spcBef>
                <a:spcPct val="0"/>
              </a:spcBef>
            </a:pPr>
            <a:r>
              <a:rPr lang="en-US" sz="4003">
                <a:solidFill>
                  <a:srgbClr val="000000"/>
                </a:solidFill>
                <a:latin typeface="マキナス Square"/>
                <a:ea typeface="マキナス Square"/>
                <a:cs typeface="マキナス Square"/>
                <a:sym typeface="マキナス Square"/>
              </a:rPr>
              <a:t>ステージ3のボス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2203932" y="3470365"/>
            <a:ext cx="5125635" cy="6888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05"/>
              </a:lnSpc>
              <a:spcBef>
                <a:spcPct val="0"/>
              </a:spcBef>
            </a:pPr>
            <a:r>
              <a:rPr lang="en-US" sz="4003">
                <a:solidFill>
                  <a:srgbClr val="000000"/>
                </a:solidFill>
                <a:latin typeface="マキナス Square"/>
                <a:ea typeface="マキナス Square"/>
                <a:cs typeface="マキナス Square"/>
                <a:sym typeface="マキナス Square"/>
              </a:rPr>
              <a:t>ステージ１のボス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2135753" y="7994204"/>
            <a:ext cx="5123547" cy="6888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05"/>
              </a:lnSpc>
              <a:spcBef>
                <a:spcPct val="0"/>
              </a:spcBef>
            </a:pPr>
            <a:r>
              <a:rPr lang="en-US" sz="4003">
                <a:solidFill>
                  <a:srgbClr val="000000"/>
                </a:solidFill>
                <a:latin typeface="マキナス Square"/>
                <a:ea typeface="マキナス Square"/>
                <a:cs typeface="マキナス Square"/>
                <a:sym typeface="マキナス Square"/>
              </a:rPr>
              <a:t>無敵アイテム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3450268" y="1332294"/>
            <a:ext cx="4329280" cy="8784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194"/>
              </a:lnSpc>
              <a:spcBef>
                <a:spcPct val="0"/>
              </a:spcBef>
            </a:pPr>
            <a:r>
              <a:rPr lang="en-US" sz="5139">
                <a:solidFill>
                  <a:srgbClr val="000000"/>
                </a:solidFill>
                <a:latin typeface="マキナス Square"/>
                <a:ea typeface="マキナス Square"/>
                <a:cs typeface="マキナス Square"/>
                <a:sym typeface="マキナス Square"/>
              </a:rPr>
              <a:t>敵・アイテム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D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89519" y="1247045"/>
            <a:ext cx="18867038" cy="1144206"/>
            <a:chOff x="0" y="0"/>
            <a:chExt cx="4969097" cy="30135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969097" cy="301355"/>
            </a:xfrm>
            <a:custGeom>
              <a:avLst/>
              <a:gdLst/>
              <a:ahLst/>
              <a:cxnLst/>
              <a:rect l="l" t="t" r="r" b="b"/>
              <a:pathLst>
                <a:path w="4969097" h="301355">
                  <a:moveTo>
                    <a:pt x="20927" y="0"/>
                  </a:moveTo>
                  <a:lnTo>
                    <a:pt x="4948169" y="0"/>
                  </a:lnTo>
                  <a:cubicBezTo>
                    <a:pt x="4959727" y="0"/>
                    <a:pt x="4969097" y="9370"/>
                    <a:pt x="4969097" y="20927"/>
                  </a:cubicBezTo>
                  <a:lnTo>
                    <a:pt x="4969097" y="280427"/>
                  </a:lnTo>
                  <a:cubicBezTo>
                    <a:pt x="4969097" y="291985"/>
                    <a:pt x="4959727" y="301355"/>
                    <a:pt x="4948169" y="301355"/>
                  </a:cubicBezTo>
                  <a:lnTo>
                    <a:pt x="20927" y="301355"/>
                  </a:lnTo>
                  <a:cubicBezTo>
                    <a:pt x="9370" y="301355"/>
                    <a:pt x="0" y="291985"/>
                    <a:pt x="0" y="280427"/>
                  </a:cubicBezTo>
                  <a:lnTo>
                    <a:pt x="0" y="20927"/>
                  </a:lnTo>
                  <a:cubicBezTo>
                    <a:pt x="0" y="9370"/>
                    <a:pt x="9370" y="0"/>
                    <a:pt x="20927" y="0"/>
                  </a:cubicBezTo>
                  <a:close/>
                </a:path>
              </a:pathLst>
            </a:custGeom>
            <a:solidFill>
              <a:srgbClr val="13BABF"/>
            </a:solidFill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969097" cy="3489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792394" y="3941971"/>
            <a:ext cx="13797883" cy="8556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85"/>
              </a:lnSpc>
            </a:pPr>
            <a:r>
              <a:rPr lang="en-US" sz="2418">
                <a:solidFill>
                  <a:srgbClr val="000000"/>
                </a:solidFill>
                <a:latin typeface="マキナス Square"/>
                <a:ea typeface="マキナス Square"/>
                <a:cs typeface="マキナス Square"/>
                <a:sym typeface="マキナス Square"/>
              </a:rPr>
              <a:t>マウスの移動によりプレイヤーを左右に動かせる。</a:t>
            </a:r>
          </a:p>
          <a:p>
            <a:pPr algn="l">
              <a:lnSpc>
                <a:spcPts val="3385"/>
              </a:lnSpc>
              <a:spcBef>
                <a:spcPct val="0"/>
              </a:spcBef>
            </a:pPr>
            <a:r>
              <a:rPr lang="en-US" sz="2418">
                <a:solidFill>
                  <a:srgbClr val="000000"/>
                </a:solidFill>
                <a:latin typeface="マキナス Square"/>
                <a:ea typeface="マキナス Square"/>
                <a:cs typeface="マキナス Square"/>
                <a:sym typeface="マキナス Square"/>
              </a:rPr>
              <a:t>縦移動はできない。</a:t>
            </a:r>
          </a:p>
        </p:txBody>
      </p:sp>
      <p:sp>
        <p:nvSpPr>
          <p:cNvPr id="6" name="Freeform 6"/>
          <p:cNvSpPr/>
          <p:nvPr/>
        </p:nvSpPr>
        <p:spPr>
          <a:xfrm>
            <a:off x="9348664" y="2890438"/>
            <a:ext cx="8407676" cy="8407676"/>
          </a:xfrm>
          <a:custGeom>
            <a:avLst/>
            <a:gdLst/>
            <a:ahLst/>
            <a:cxnLst/>
            <a:rect l="l" t="t" r="r" b="b"/>
            <a:pathLst>
              <a:path w="8407676" h="8407676">
                <a:moveTo>
                  <a:pt x="0" y="0"/>
                </a:moveTo>
                <a:lnTo>
                  <a:pt x="8407676" y="0"/>
                </a:lnTo>
                <a:lnTo>
                  <a:pt x="8407676" y="8407676"/>
                </a:lnTo>
                <a:lnTo>
                  <a:pt x="0" y="840767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9999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ja-JP" altLang="en-US"/>
          </a:p>
        </p:txBody>
      </p:sp>
      <p:sp>
        <p:nvSpPr>
          <p:cNvPr id="7" name="TextBox 7"/>
          <p:cNvSpPr txBox="1"/>
          <p:nvPr/>
        </p:nvSpPr>
        <p:spPr>
          <a:xfrm>
            <a:off x="3106192" y="1332294"/>
            <a:ext cx="4425043" cy="8784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194"/>
              </a:lnSpc>
              <a:spcBef>
                <a:spcPct val="0"/>
              </a:spcBef>
            </a:pPr>
            <a:r>
              <a:rPr lang="en-US" sz="5139">
                <a:solidFill>
                  <a:srgbClr val="000000"/>
                </a:solidFill>
                <a:latin typeface="マキナス Square"/>
                <a:ea typeface="マキナス Square"/>
                <a:cs typeface="マキナス Square"/>
                <a:sym typeface="マキナス Square"/>
              </a:rPr>
              <a:t>操作方法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792394" y="6240725"/>
            <a:ext cx="13797883" cy="425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85"/>
              </a:lnSpc>
              <a:spcBef>
                <a:spcPct val="0"/>
              </a:spcBef>
            </a:pPr>
            <a:r>
              <a:rPr lang="en-US" sz="2418">
                <a:solidFill>
                  <a:srgbClr val="000000"/>
                </a:solidFill>
                <a:latin typeface="マキナス Square"/>
                <a:ea typeface="マキナス Square"/>
                <a:cs typeface="マキナス Square"/>
                <a:sym typeface="マキナス Square"/>
              </a:rPr>
              <a:t>マウスを左クリックすることで弾を発射。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792394" y="8539479"/>
            <a:ext cx="13797883" cy="17156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85"/>
              </a:lnSpc>
            </a:pPr>
            <a:r>
              <a:rPr lang="en-US" sz="2418">
                <a:solidFill>
                  <a:srgbClr val="000000"/>
                </a:solidFill>
                <a:latin typeface="マキナス Square"/>
                <a:ea typeface="マキナス Square"/>
                <a:cs typeface="マキナス Square"/>
                <a:sym typeface="マキナス Square"/>
              </a:rPr>
              <a:t>・１・２・３キー</a:t>
            </a:r>
          </a:p>
          <a:p>
            <a:pPr algn="l">
              <a:lnSpc>
                <a:spcPts val="3385"/>
              </a:lnSpc>
            </a:pPr>
            <a:r>
              <a:rPr lang="en-US" sz="2418">
                <a:solidFill>
                  <a:srgbClr val="000000"/>
                </a:solidFill>
                <a:latin typeface="マキナス Square"/>
                <a:ea typeface="マキナス Square"/>
                <a:cs typeface="マキナス Square"/>
                <a:sym typeface="マキナス Square"/>
              </a:rPr>
              <a:t>　→それぞれ水・炎・雷属性を選択可能</a:t>
            </a:r>
          </a:p>
          <a:p>
            <a:pPr algn="l">
              <a:lnSpc>
                <a:spcPts val="3385"/>
              </a:lnSpc>
            </a:pPr>
            <a:r>
              <a:rPr lang="en-US" sz="2418">
                <a:solidFill>
                  <a:srgbClr val="000000"/>
                </a:solidFill>
                <a:latin typeface="マキナス Square"/>
                <a:ea typeface="マキナス Square"/>
                <a:cs typeface="マキナス Square"/>
                <a:sym typeface="マキナス Square"/>
              </a:rPr>
              <a:t>・スペースキー</a:t>
            </a:r>
          </a:p>
          <a:p>
            <a:pPr algn="l">
              <a:lnSpc>
                <a:spcPts val="3385"/>
              </a:lnSpc>
              <a:spcBef>
                <a:spcPct val="0"/>
              </a:spcBef>
            </a:pPr>
            <a:r>
              <a:rPr lang="en-US" sz="2418">
                <a:solidFill>
                  <a:srgbClr val="000000"/>
                </a:solidFill>
                <a:latin typeface="マキナス Square"/>
                <a:ea typeface="マキナス Square"/>
                <a:cs typeface="マキナス Square"/>
                <a:sym typeface="マキナス Square"/>
              </a:rPr>
              <a:t>　やじｒ</a:t>
            </a:r>
          </a:p>
        </p:txBody>
      </p:sp>
      <p:sp>
        <p:nvSpPr>
          <p:cNvPr id="10" name="Freeform 10"/>
          <p:cNvSpPr/>
          <p:nvPr/>
        </p:nvSpPr>
        <p:spPr>
          <a:xfrm>
            <a:off x="1839894" y="2890438"/>
            <a:ext cx="4387383" cy="949270"/>
          </a:xfrm>
          <a:custGeom>
            <a:avLst/>
            <a:gdLst/>
            <a:ahLst/>
            <a:cxnLst/>
            <a:rect l="l" t="t" r="r" b="b"/>
            <a:pathLst>
              <a:path w="4387383" h="949270">
                <a:moveTo>
                  <a:pt x="0" y="0"/>
                </a:moveTo>
                <a:lnTo>
                  <a:pt x="4387383" y="0"/>
                </a:lnTo>
                <a:lnTo>
                  <a:pt x="4387383" y="949270"/>
                </a:lnTo>
                <a:lnTo>
                  <a:pt x="0" y="9492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ja-JP" altLang="en-US"/>
          </a:p>
        </p:txBody>
      </p:sp>
      <p:sp>
        <p:nvSpPr>
          <p:cNvPr id="11" name="TextBox 11"/>
          <p:cNvSpPr txBox="1"/>
          <p:nvPr/>
        </p:nvSpPr>
        <p:spPr>
          <a:xfrm>
            <a:off x="2336100" y="2983287"/>
            <a:ext cx="3299970" cy="6062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9"/>
              </a:lnSpc>
              <a:spcBef>
                <a:spcPct val="0"/>
              </a:spcBef>
            </a:pPr>
            <a:r>
              <a:rPr lang="en-US" sz="3506">
                <a:solidFill>
                  <a:srgbClr val="000000"/>
                </a:solidFill>
                <a:latin typeface="マキナス Square"/>
                <a:ea typeface="マキナス Square"/>
                <a:cs typeface="マキナス Square"/>
                <a:sym typeface="マキナス Square"/>
              </a:rPr>
              <a:t>プレイヤー移動</a:t>
            </a:r>
          </a:p>
        </p:txBody>
      </p:sp>
      <p:sp>
        <p:nvSpPr>
          <p:cNvPr id="12" name="Freeform 12"/>
          <p:cNvSpPr/>
          <p:nvPr/>
        </p:nvSpPr>
        <p:spPr>
          <a:xfrm>
            <a:off x="1839894" y="5198267"/>
            <a:ext cx="4387383" cy="949270"/>
          </a:xfrm>
          <a:custGeom>
            <a:avLst/>
            <a:gdLst/>
            <a:ahLst/>
            <a:cxnLst/>
            <a:rect l="l" t="t" r="r" b="b"/>
            <a:pathLst>
              <a:path w="4387383" h="949270">
                <a:moveTo>
                  <a:pt x="0" y="0"/>
                </a:moveTo>
                <a:lnTo>
                  <a:pt x="4387383" y="0"/>
                </a:lnTo>
                <a:lnTo>
                  <a:pt x="4387383" y="949270"/>
                </a:lnTo>
                <a:lnTo>
                  <a:pt x="0" y="9492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ja-JP" altLang="en-US"/>
          </a:p>
        </p:txBody>
      </p:sp>
      <p:sp>
        <p:nvSpPr>
          <p:cNvPr id="13" name="TextBox 13"/>
          <p:cNvSpPr txBox="1"/>
          <p:nvPr/>
        </p:nvSpPr>
        <p:spPr>
          <a:xfrm>
            <a:off x="1921183" y="5331673"/>
            <a:ext cx="4263317" cy="6062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9"/>
              </a:lnSpc>
              <a:spcBef>
                <a:spcPct val="0"/>
              </a:spcBef>
            </a:pPr>
            <a:r>
              <a:rPr lang="en-US" sz="3506">
                <a:solidFill>
                  <a:srgbClr val="000000"/>
                </a:solidFill>
                <a:latin typeface="マキナス Square"/>
                <a:ea typeface="マキナス Square"/>
                <a:cs typeface="マキナス Square"/>
                <a:sym typeface="マキナス Square"/>
              </a:rPr>
              <a:t>弾の発射</a:t>
            </a:r>
          </a:p>
        </p:txBody>
      </p:sp>
      <p:sp>
        <p:nvSpPr>
          <p:cNvPr id="14" name="Freeform 14"/>
          <p:cNvSpPr/>
          <p:nvPr/>
        </p:nvSpPr>
        <p:spPr>
          <a:xfrm>
            <a:off x="1839894" y="7506096"/>
            <a:ext cx="4387383" cy="949270"/>
          </a:xfrm>
          <a:custGeom>
            <a:avLst/>
            <a:gdLst/>
            <a:ahLst/>
            <a:cxnLst/>
            <a:rect l="l" t="t" r="r" b="b"/>
            <a:pathLst>
              <a:path w="4387383" h="949270">
                <a:moveTo>
                  <a:pt x="0" y="0"/>
                </a:moveTo>
                <a:lnTo>
                  <a:pt x="4387383" y="0"/>
                </a:lnTo>
                <a:lnTo>
                  <a:pt x="4387383" y="949270"/>
                </a:lnTo>
                <a:lnTo>
                  <a:pt x="0" y="9492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ja-JP" altLang="en-US"/>
          </a:p>
        </p:txBody>
      </p:sp>
      <p:sp>
        <p:nvSpPr>
          <p:cNvPr id="15" name="TextBox 15"/>
          <p:cNvSpPr txBox="1"/>
          <p:nvPr/>
        </p:nvSpPr>
        <p:spPr>
          <a:xfrm>
            <a:off x="2418957" y="7629801"/>
            <a:ext cx="3134255" cy="6062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9"/>
              </a:lnSpc>
              <a:spcBef>
                <a:spcPct val="0"/>
              </a:spcBef>
            </a:pPr>
            <a:r>
              <a:rPr lang="en-US" sz="3506">
                <a:solidFill>
                  <a:srgbClr val="000000"/>
                </a:solidFill>
                <a:latin typeface="マキナス Square"/>
                <a:ea typeface="マキナス Square"/>
                <a:cs typeface="マキナス Square"/>
                <a:sym typeface="マキナス Square"/>
              </a:rPr>
              <a:t>属性の切り替え</a:t>
            </a:r>
          </a:p>
        </p:txBody>
      </p:sp>
      <p:sp>
        <p:nvSpPr>
          <p:cNvPr id="16" name="Freeform 16"/>
          <p:cNvSpPr/>
          <p:nvPr/>
        </p:nvSpPr>
        <p:spPr>
          <a:xfrm>
            <a:off x="963950" y="1142044"/>
            <a:ext cx="1914467" cy="1580305"/>
          </a:xfrm>
          <a:custGeom>
            <a:avLst/>
            <a:gdLst/>
            <a:ahLst/>
            <a:cxnLst/>
            <a:rect l="l" t="t" r="r" b="b"/>
            <a:pathLst>
              <a:path w="1914467" h="1580305">
                <a:moveTo>
                  <a:pt x="0" y="0"/>
                </a:moveTo>
                <a:lnTo>
                  <a:pt x="1914466" y="0"/>
                </a:lnTo>
                <a:lnTo>
                  <a:pt x="1914466" y="1580305"/>
                </a:lnTo>
                <a:lnTo>
                  <a:pt x="0" y="158030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4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ja-JP" altLang="en-US"/>
          </a:p>
        </p:txBody>
      </p:sp>
      <p:sp>
        <p:nvSpPr>
          <p:cNvPr id="17" name="Freeform 17"/>
          <p:cNvSpPr/>
          <p:nvPr/>
        </p:nvSpPr>
        <p:spPr>
          <a:xfrm>
            <a:off x="835160" y="1028995"/>
            <a:ext cx="1914467" cy="1580305"/>
          </a:xfrm>
          <a:custGeom>
            <a:avLst/>
            <a:gdLst/>
            <a:ahLst/>
            <a:cxnLst/>
            <a:rect l="l" t="t" r="r" b="b"/>
            <a:pathLst>
              <a:path w="1914467" h="1580305">
                <a:moveTo>
                  <a:pt x="0" y="0"/>
                </a:moveTo>
                <a:lnTo>
                  <a:pt x="1914467" y="0"/>
                </a:lnTo>
                <a:lnTo>
                  <a:pt x="1914467" y="1580306"/>
                </a:lnTo>
                <a:lnTo>
                  <a:pt x="0" y="158030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ja-JP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BAB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18139" y="388453"/>
            <a:ext cx="18867038" cy="1144206"/>
            <a:chOff x="0" y="0"/>
            <a:chExt cx="4969097" cy="30135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969097" cy="301355"/>
            </a:xfrm>
            <a:custGeom>
              <a:avLst/>
              <a:gdLst/>
              <a:ahLst/>
              <a:cxnLst/>
              <a:rect l="l" t="t" r="r" b="b"/>
              <a:pathLst>
                <a:path w="4969097" h="301355">
                  <a:moveTo>
                    <a:pt x="20927" y="0"/>
                  </a:moveTo>
                  <a:lnTo>
                    <a:pt x="4948169" y="0"/>
                  </a:lnTo>
                  <a:cubicBezTo>
                    <a:pt x="4959727" y="0"/>
                    <a:pt x="4969097" y="9370"/>
                    <a:pt x="4969097" y="20927"/>
                  </a:cubicBezTo>
                  <a:lnTo>
                    <a:pt x="4969097" y="280427"/>
                  </a:lnTo>
                  <a:cubicBezTo>
                    <a:pt x="4969097" y="291985"/>
                    <a:pt x="4959727" y="301355"/>
                    <a:pt x="4948169" y="301355"/>
                  </a:cubicBezTo>
                  <a:lnTo>
                    <a:pt x="20927" y="301355"/>
                  </a:lnTo>
                  <a:cubicBezTo>
                    <a:pt x="9370" y="301355"/>
                    <a:pt x="0" y="291985"/>
                    <a:pt x="0" y="280427"/>
                  </a:cubicBezTo>
                  <a:lnTo>
                    <a:pt x="0" y="20927"/>
                  </a:lnTo>
                  <a:cubicBezTo>
                    <a:pt x="0" y="9370"/>
                    <a:pt x="9370" y="0"/>
                    <a:pt x="20927" y="0"/>
                  </a:cubicBezTo>
                  <a:close/>
                </a:path>
              </a:pathLst>
            </a:custGeom>
            <a:solidFill>
              <a:srgbClr val="F3FDFF"/>
            </a:solidFill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969097" cy="3489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28700" y="3670975"/>
            <a:ext cx="2793662" cy="2793662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5EF07"/>
            </a:solidFill>
            <a:ln w="952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AutoShape 8"/>
          <p:cNvSpPr/>
          <p:nvPr/>
        </p:nvSpPr>
        <p:spPr>
          <a:xfrm flipV="1">
            <a:off x="9016272" y="3041744"/>
            <a:ext cx="0" cy="70492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ja-JP" altLang="en-US"/>
          </a:p>
        </p:txBody>
      </p:sp>
      <p:grpSp>
        <p:nvGrpSpPr>
          <p:cNvPr id="9" name="Group 9"/>
          <p:cNvGrpSpPr/>
          <p:nvPr/>
        </p:nvGrpSpPr>
        <p:grpSpPr>
          <a:xfrm>
            <a:off x="7600390" y="3670975"/>
            <a:ext cx="2793662" cy="2793662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5EF07"/>
            </a:solidFill>
            <a:ln w="952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0913559" y="6452607"/>
            <a:ext cx="2793662" cy="2793662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5EF07"/>
            </a:solidFill>
            <a:ln w="952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5" name="AutoShape 15"/>
          <p:cNvSpPr/>
          <p:nvPr/>
        </p:nvSpPr>
        <p:spPr>
          <a:xfrm>
            <a:off x="1108150" y="8790590"/>
            <a:ext cx="4398538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ja-JP" altLang="en-US"/>
          </a:p>
        </p:txBody>
      </p:sp>
      <p:grpSp>
        <p:nvGrpSpPr>
          <p:cNvPr id="16" name="Group 16"/>
          <p:cNvGrpSpPr/>
          <p:nvPr/>
        </p:nvGrpSpPr>
        <p:grpSpPr>
          <a:xfrm>
            <a:off x="4109858" y="6464638"/>
            <a:ext cx="2793662" cy="2793662"/>
            <a:chOff x="0" y="0"/>
            <a:chExt cx="812800" cy="812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5EF07"/>
            </a:solidFill>
            <a:ln w="952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4465638" y="3746669"/>
            <a:ext cx="2793662" cy="2793662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5EF07"/>
            </a:solidFill>
            <a:ln w="952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2" name="Freeform 22"/>
          <p:cNvSpPr/>
          <p:nvPr/>
        </p:nvSpPr>
        <p:spPr>
          <a:xfrm>
            <a:off x="863780" y="256263"/>
            <a:ext cx="1914467" cy="1580305"/>
          </a:xfrm>
          <a:custGeom>
            <a:avLst/>
            <a:gdLst/>
            <a:ahLst/>
            <a:cxnLst/>
            <a:rect l="l" t="t" r="r" b="b"/>
            <a:pathLst>
              <a:path w="1914467" h="1580305">
                <a:moveTo>
                  <a:pt x="0" y="0"/>
                </a:moveTo>
                <a:lnTo>
                  <a:pt x="1914467" y="0"/>
                </a:lnTo>
                <a:lnTo>
                  <a:pt x="1914467" y="1580305"/>
                </a:lnTo>
                <a:lnTo>
                  <a:pt x="0" y="158030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40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ja-JP" altLang="en-US"/>
          </a:p>
        </p:txBody>
      </p:sp>
      <p:sp>
        <p:nvSpPr>
          <p:cNvPr id="23" name="Freeform 23"/>
          <p:cNvSpPr/>
          <p:nvPr/>
        </p:nvSpPr>
        <p:spPr>
          <a:xfrm>
            <a:off x="863780" y="256263"/>
            <a:ext cx="1914467" cy="1580305"/>
          </a:xfrm>
          <a:custGeom>
            <a:avLst/>
            <a:gdLst/>
            <a:ahLst/>
            <a:cxnLst/>
            <a:rect l="l" t="t" r="r" b="b"/>
            <a:pathLst>
              <a:path w="1914467" h="1580305">
                <a:moveTo>
                  <a:pt x="0" y="0"/>
                </a:moveTo>
                <a:lnTo>
                  <a:pt x="1914467" y="0"/>
                </a:lnTo>
                <a:lnTo>
                  <a:pt x="1914467" y="1580305"/>
                </a:lnTo>
                <a:lnTo>
                  <a:pt x="0" y="158030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ja-JP" altLang="en-US"/>
          </a:p>
        </p:txBody>
      </p:sp>
      <p:grpSp>
        <p:nvGrpSpPr>
          <p:cNvPr id="24" name="Group 24"/>
          <p:cNvGrpSpPr/>
          <p:nvPr/>
        </p:nvGrpSpPr>
        <p:grpSpPr>
          <a:xfrm rot="2816908">
            <a:off x="3315998" y="6419237"/>
            <a:ext cx="928896" cy="532160"/>
            <a:chOff x="0" y="0"/>
            <a:chExt cx="1238528" cy="709546"/>
          </a:xfrm>
        </p:grpSpPr>
        <p:sp>
          <p:nvSpPr>
            <p:cNvPr id="25" name="Freeform 25"/>
            <p:cNvSpPr/>
            <p:nvPr/>
          </p:nvSpPr>
          <p:spPr>
            <a:xfrm>
              <a:off x="843762" y="0"/>
              <a:ext cx="394766" cy="709546"/>
            </a:xfrm>
            <a:custGeom>
              <a:avLst/>
              <a:gdLst/>
              <a:ahLst/>
              <a:cxnLst/>
              <a:rect l="l" t="t" r="r" b="b"/>
              <a:pathLst>
                <a:path w="394766" h="709546">
                  <a:moveTo>
                    <a:pt x="0" y="0"/>
                  </a:moveTo>
                  <a:lnTo>
                    <a:pt x="394766" y="0"/>
                  </a:lnTo>
                  <a:lnTo>
                    <a:pt x="394766" y="709546"/>
                  </a:lnTo>
                  <a:lnTo>
                    <a:pt x="0" y="7095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6" name="Freeform 26"/>
            <p:cNvSpPr/>
            <p:nvPr/>
          </p:nvSpPr>
          <p:spPr>
            <a:xfrm>
              <a:off x="421881" y="0"/>
              <a:ext cx="394766" cy="709546"/>
            </a:xfrm>
            <a:custGeom>
              <a:avLst/>
              <a:gdLst/>
              <a:ahLst/>
              <a:cxnLst/>
              <a:rect l="l" t="t" r="r" b="b"/>
              <a:pathLst>
                <a:path w="394766" h="709546">
                  <a:moveTo>
                    <a:pt x="0" y="0"/>
                  </a:moveTo>
                  <a:lnTo>
                    <a:pt x="394766" y="0"/>
                  </a:lnTo>
                  <a:lnTo>
                    <a:pt x="394766" y="709546"/>
                  </a:lnTo>
                  <a:lnTo>
                    <a:pt x="0" y="7095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7" name="Freeform 27"/>
            <p:cNvSpPr/>
            <p:nvPr/>
          </p:nvSpPr>
          <p:spPr>
            <a:xfrm>
              <a:off x="0" y="0"/>
              <a:ext cx="394766" cy="709546"/>
            </a:xfrm>
            <a:custGeom>
              <a:avLst/>
              <a:gdLst/>
              <a:ahLst/>
              <a:cxnLst/>
              <a:rect l="l" t="t" r="r" b="b"/>
              <a:pathLst>
                <a:path w="394766" h="709546">
                  <a:moveTo>
                    <a:pt x="0" y="0"/>
                  </a:moveTo>
                  <a:lnTo>
                    <a:pt x="394766" y="0"/>
                  </a:lnTo>
                  <a:lnTo>
                    <a:pt x="394766" y="709546"/>
                  </a:lnTo>
                  <a:lnTo>
                    <a:pt x="0" y="7095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28" name="Group 28"/>
          <p:cNvGrpSpPr/>
          <p:nvPr/>
        </p:nvGrpSpPr>
        <p:grpSpPr>
          <a:xfrm rot="2816908">
            <a:off x="10153328" y="6329541"/>
            <a:ext cx="928896" cy="532160"/>
            <a:chOff x="0" y="0"/>
            <a:chExt cx="1238528" cy="709546"/>
          </a:xfrm>
        </p:grpSpPr>
        <p:sp>
          <p:nvSpPr>
            <p:cNvPr id="29" name="Freeform 29"/>
            <p:cNvSpPr/>
            <p:nvPr/>
          </p:nvSpPr>
          <p:spPr>
            <a:xfrm>
              <a:off x="843762" y="0"/>
              <a:ext cx="394766" cy="709546"/>
            </a:xfrm>
            <a:custGeom>
              <a:avLst/>
              <a:gdLst/>
              <a:ahLst/>
              <a:cxnLst/>
              <a:rect l="l" t="t" r="r" b="b"/>
              <a:pathLst>
                <a:path w="394766" h="709546">
                  <a:moveTo>
                    <a:pt x="0" y="0"/>
                  </a:moveTo>
                  <a:lnTo>
                    <a:pt x="394766" y="0"/>
                  </a:lnTo>
                  <a:lnTo>
                    <a:pt x="394766" y="709546"/>
                  </a:lnTo>
                  <a:lnTo>
                    <a:pt x="0" y="7095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0" name="Freeform 30"/>
            <p:cNvSpPr/>
            <p:nvPr/>
          </p:nvSpPr>
          <p:spPr>
            <a:xfrm>
              <a:off x="421881" y="0"/>
              <a:ext cx="394766" cy="709546"/>
            </a:xfrm>
            <a:custGeom>
              <a:avLst/>
              <a:gdLst/>
              <a:ahLst/>
              <a:cxnLst/>
              <a:rect l="l" t="t" r="r" b="b"/>
              <a:pathLst>
                <a:path w="394766" h="709546">
                  <a:moveTo>
                    <a:pt x="0" y="0"/>
                  </a:moveTo>
                  <a:lnTo>
                    <a:pt x="394766" y="0"/>
                  </a:lnTo>
                  <a:lnTo>
                    <a:pt x="394766" y="709546"/>
                  </a:lnTo>
                  <a:lnTo>
                    <a:pt x="0" y="7095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1" name="Freeform 31"/>
            <p:cNvSpPr/>
            <p:nvPr/>
          </p:nvSpPr>
          <p:spPr>
            <a:xfrm>
              <a:off x="0" y="0"/>
              <a:ext cx="394766" cy="709546"/>
            </a:xfrm>
            <a:custGeom>
              <a:avLst/>
              <a:gdLst/>
              <a:ahLst/>
              <a:cxnLst/>
              <a:rect l="l" t="t" r="r" b="b"/>
              <a:pathLst>
                <a:path w="394766" h="709546">
                  <a:moveTo>
                    <a:pt x="0" y="0"/>
                  </a:moveTo>
                  <a:lnTo>
                    <a:pt x="394766" y="0"/>
                  </a:lnTo>
                  <a:lnTo>
                    <a:pt x="394766" y="709546"/>
                  </a:lnTo>
                  <a:lnTo>
                    <a:pt x="0" y="7095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32" name="Group 32"/>
          <p:cNvGrpSpPr/>
          <p:nvPr/>
        </p:nvGrpSpPr>
        <p:grpSpPr>
          <a:xfrm rot="-2259496">
            <a:off x="6786837" y="6302911"/>
            <a:ext cx="928896" cy="532160"/>
            <a:chOff x="0" y="0"/>
            <a:chExt cx="1238528" cy="709546"/>
          </a:xfrm>
        </p:grpSpPr>
        <p:sp>
          <p:nvSpPr>
            <p:cNvPr id="33" name="Freeform 33"/>
            <p:cNvSpPr/>
            <p:nvPr/>
          </p:nvSpPr>
          <p:spPr>
            <a:xfrm>
              <a:off x="843762" y="0"/>
              <a:ext cx="394766" cy="709546"/>
            </a:xfrm>
            <a:custGeom>
              <a:avLst/>
              <a:gdLst/>
              <a:ahLst/>
              <a:cxnLst/>
              <a:rect l="l" t="t" r="r" b="b"/>
              <a:pathLst>
                <a:path w="394766" h="709546">
                  <a:moveTo>
                    <a:pt x="0" y="0"/>
                  </a:moveTo>
                  <a:lnTo>
                    <a:pt x="394766" y="0"/>
                  </a:lnTo>
                  <a:lnTo>
                    <a:pt x="394766" y="709546"/>
                  </a:lnTo>
                  <a:lnTo>
                    <a:pt x="0" y="7095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4" name="Freeform 34"/>
            <p:cNvSpPr/>
            <p:nvPr/>
          </p:nvSpPr>
          <p:spPr>
            <a:xfrm>
              <a:off x="421881" y="0"/>
              <a:ext cx="394766" cy="709546"/>
            </a:xfrm>
            <a:custGeom>
              <a:avLst/>
              <a:gdLst/>
              <a:ahLst/>
              <a:cxnLst/>
              <a:rect l="l" t="t" r="r" b="b"/>
              <a:pathLst>
                <a:path w="394766" h="709546">
                  <a:moveTo>
                    <a:pt x="0" y="0"/>
                  </a:moveTo>
                  <a:lnTo>
                    <a:pt x="394766" y="0"/>
                  </a:lnTo>
                  <a:lnTo>
                    <a:pt x="394766" y="709546"/>
                  </a:lnTo>
                  <a:lnTo>
                    <a:pt x="0" y="7095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5" name="Freeform 35"/>
            <p:cNvSpPr/>
            <p:nvPr/>
          </p:nvSpPr>
          <p:spPr>
            <a:xfrm>
              <a:off x="0" y="0"/>
              <a:ext cx="394766" cy="709546"/>
            </a:xfrm>
            <a:custGeom>
              <a:avLst/>
              <a:gdLst/>
              <a:ahLst/>
              <a:cxnLst/>
              <a:rect l="l" t="t" r="r" b="b"/>
              <a:pathLst>
                <a:path w="394766" h="709546">
                  <a:moveTo>
                    <a:pt x="0" y="0"/>
                  </a:moveTo>
                  <a:lnTo>
                    <a:pt x="394766" y="0"/>
                  </a:lnTo>
                  <a:lnTo>
                    <a:pt x="394766" y="709546"/>
                  </a:lnTo>
                  <a:lnTo>
                    <a:pt x="0" y="7095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36" name="Group 36"/>
          <p:cNvGrpSpPr/>
          <p:nvPr/>
        </p:nvGrpSpPr>
        <p:grpSpPr>
          <a:xfrm rot="-2259496">
            <a:off x="13611231" y="6302911"/>
            <a:ext cx="928896" cy="532160"/>
            <a:chOff x="0" y="0"/>
            <a:chExt cx="1238528" cy="709546"/>
          </a:xfrm>
        </p:grpSpPr>
        <p:sp>
          <p:nvSpPr>
            <p:cNvPr id="37" name="Freeform 37"/>
            <p:cNvSpPr/>
            <p:nvPr/>
          </p:nvSpPr>
          <p:spPr>
            <a:xfrm>
              <a:off x="843762" y="0"/>
              <a:ext cx="394766" cy="709546"/>
            </a:xfrm>
            <a:custGeom>
              <a:avLst/>
              <a:gdLst/>
              <a:ahLst/>
              <a:cxnLst/>
              <a:rect l="l" t="t" r="r" b="b"/>
              <a:pathLst>
                <a:path w="394766" h="709546">
                  <a:moveTo>
                    <a:pt x="0" y="0"/>
                  </a:moveTo>
                  <a:lnTo>
                    <a:pt x="394766" y="0"/>
                  </a:lnTo>
                  <a:lnTo>
                    <a:pt x="394766" y="709546"/>
                  </a:lnTo>
                  <a:lnTo>
                    <a:pt x="0" y="7095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8" name="Freeform 38"/>
            <p:cNvSpPr/>
            <p:nvPr/>
          </p:nvSpPr>
          <p:spPr>
            <a:xfrm>
              <a:off x="421881" y="0"/>
              <a:ext cx="394766" cy="709546"/>
            </a:xfrm>
            <a:custGeom>
              <a:avLst/>
              <a:gdLst/>
              <a:ahLst/>
              <a:cxnLst/>
              <a:rect l="l" t="t" r="r" b="b"/>
              <a:pathLst>
                <a:path w="394766" h="709546">
                  <a:moveTo>
                    <a:pt x="0" y="0"/>
                  </a:moveTo>
                  <a:lnTo>
                    <a:pt x="394766" y="0"/>
                  </a:lnTo>
                  <a:lnTo>
                    <a:pt x="394766" y="709546"/>
                  </a:lnTo>
                  <a:lnTo>
                    <a:pt x="0" y="7095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9" name="Freeform 39"/>
            <p:cNvSpPr/>
            <p:nvPr/>
          </p:nvSpPr>
          <p:spPr>
            <a:xfrm>
              <a:off x="0" y="0"/>
              <a:ext cx="394766" cy="709546"/>
            </a:xfrm>
            <a:custGeom>
              <a:avLst/>
              <a:gdLst/>
              <a:ahLst/>
              <a:cxnLst/>
              <a:rect l="l" t="t" r="r" b="b"/>
              <a:pathLst>
                <a:path w="394766" h="709546">
                  <a:moveTo>
                    <a:pt x="0" y="0"/>
                  </a:moveTo>
                  <a:lnTo>
                    <a:pt x="394766" y="0"/>
                  </a:lnTo>
                  <a:lnTo>
                    <a:pt x="394766" y="709546"/>
                  </a:lnTo>
                  <a:lnTo>
                    <a:pt x="0" y="7095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ja-JP" altLang="en-US"/>
            </a:p>
          </p:txBody>
        </p:sp>
      </p:grpSp>
      <p:sp>
        <p:nvSpPr>
          <p:cNvPr id="40" name="AutoShape 40"/>
          <p:cNvSpPr/>
          <p:nvPr/>
        </p:nvSpPr>
        <p:spPr>
          <a:xfrm>
            <a:off x="1108150" y="2704397"/>
            <a:ext cx="5399330" cy="3511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1" name="Freeform 41"/>
          <p:cNvSpPr/>
          <p:nvPr/>
        </p:nvSpPr>
        <p:spPr>
          <a:xfrm>
            <a:off x="530096" y="1936625"/>
            <a:ext cx="2961806" cy="1634547"/>
          </a:xfrm>
          <a:custGeom>
            <a:avLst/>
            <a:gdLst/>
            <a:ahLst/>
            <a:cxnLst/>
            <a:rect l="l" t="t" r="r" b="b"/>
            <a:pathLst>
              <a:path w="2961806" h="1634547">
                <a:moveTo>
                  <a:pt x="0" y="0"/>
                </a:moveTo>
                <a:lnTo>
                  <a:pt x="2961806" y="0"/>
                </a:lnTo>
                <a:lnTo>
                  <a:pt x="2961806" y="1634547"/>
                </a:lnTo>
                <a:lnTo>
                  <a:pt x="0" y="163454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ja-JP" altLang="en-US"/>
          </a:p>
        </p:txBody>
      </p:sp>
      <p:sp>
        <p:nvSpPr>
          <p:cNvPr id="42" name="Freeform 42"/>
          <p:cNvSpPr/>
          <p:nvPr/>
        </p:nvSpPr>
        <p:spPr>
          <a:xfrm>
            <a:off x="3922448" y="1920459"/>
            <a:ext cx="3018867" cy="1650943"/>
          </a:xfrm>
          <a:custGeom>
            <a:avLst/>
            <a:gdLst/>
            <a:ahLst/>
            <a:cxnLst/>
            <a:rect l="l" t="t" r="r" b="b"/>
            <a:pathLst>
              <a:path w="3018867" h="1650943">
                <a:moveTo>
                  <a:pt x="0" y="0"/>
                </a:moveTo>
                <a:lnTo>
                  <a:pt x="3018867" y="0"/>
                </a:lnTo>
                <a:lnTo>
                  <a:pt x="3018867" y="1650943"/>
                </a:lnTo>
                <a:lnTo>
                  <a:pt x="0" y="165094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ja-JP" altLang="en-US"/>
          </a:p>
        </p:txBody>
      </p:sp>
      <p:sp>
        <p:nvSpPr>
          <p:cNvPr id="43" name="Freeform 43"/>
          <p:cNvSpPr/>
          <p:nvPr/>
        </p:nvSpPr>
        <p:spPr>
          <a:xfrm>
            <a:off x="863780" y="8263623"/>
            <a:ext cx="3142277" cy="1785066"/>
          </a:xfrm>
          <a:custGeom>
            <a:avLst/>
            <a:gdLst/>
            <a:ahLst/>
            <a:cxnLst/>
            <a:rect l="l" t="t" r="r" b="b"/>
            <a:pathLst>
              <a:path w="3142277" h="1785066">
                <a:moveTo>
                  <a:pt x="0" y="0"/>
                </a:moveTo>
                <a:lnTo>
                  <a:pt x="3142277" y="0"/>
                </a:lnTo>
                <a:lnTo>
                  <a:pt x="3142277" y="1785067"/>
                </a:lnTo>
                <a:lnTo>
                  <a:pt x="0" y="178506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r="-1329"/>
            </a:stretch>
          </a:blipFill>
        </p:spPr>
        <p:txBody>
          <a:bodyPr/>
          <a:lstStyle/>
          <a:p>
            <a:endParaRPr lang="ja-JP" altLang="en-US"/>
          </a:p>
        </p:txBody>
      </p:sp>
      <p:sp>
        <p:nvSpPr>
          <p:cNvPr id="44" name="AutoShape 44"/>
          <p:cNvSpPr/>
          <p:nvPr/>
        </p:nvSpPr>
        <p:spPr>
          <a:xfrm>
            <a:off x="9702889" y="2739514"/>
            <a:ext cx="4388416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5" name="Freeform 45"/>
          <p:cNvSpPr/>
          <p:nvPr/>
        </p:nvSpPr>
        <p:spPr>
          <a:xfrm>
            <a:off x="8134710" y="1971793"/>
            <a:ext cx="2807469" cy="1566919"/>
          </a:xfrm>
          <a:custGeom>
            <a:avLst/>
            <a:gdLst/>
            <a:ahLst/>
            <a:cxnLst/>
            <a:rect l="l" t="t" r="r" b="b"/>
            <a:pathLst>
              <a:path w="2807469" h="1566919">
                <a:moveTo>
                  <a:pt x="0" y="0"/>
                </a:moveTo>
                <a:lnTo>
                  <a:pt x="2807469" y="0"/>
                </a:lnTo>
                <a:lnTo>
                  <a:pt x="2807469" y="1566919"/>
                </a:lnTo>
                <a:lnTo>
                  <a:pt x="0" y="156691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ja-JP" altLang="en-US"/>
          </a:p>
        </p:txBody>
      </p:sp>
      <p:sp>
        <p:nvSpPr>
          <p:cNvPr id="46" name="Freeform 46"/>
          <p:cNvSpPr/>
          <p:nvPr/>
        </p:nvSpPr>
        <p:spPr>
          <a:xfrm>
            <a:off x="11207751" y="1936625"/>
            <a:ext cx="2883554" cy="1605779"/>
          </a:xfrm>
          <a:custGeom>
            <a:avLst/>
            <a:gdLst/>
            <a:ahLst/>
            <a:cxnLst/>
            <a:rect l="l" t="t" r="r" b="b"/>
            <a:pathLst>
              <a:path w="2883554" h="1605779">
                <a:moveTo>
                  <a:pt x="0" y="0"/>
                </a:moveTo>
                <a:lnTo>
                  <a:pt x="2883554" y="0"/>
                </a:lnTo>
                <a:lnTo>
                  <a:pt x="2883554" y="1605779"/>
                </a:lnTo>
                <a:lnTo>
                  <a:pt x="0" y="160577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ja-JP" altLang="en-US"/>
          </a:p>
        </p:txBody>
      </p:sp>
      <p:sp>
        <p:nvSpPr>
          <p:cNvPr id="47" name="AutoShape 47"/>
          <p:cNvSpPr/>
          <p:nvPr/>
        </p:nvSpPr>
        <p:spPr>
          <a:xfrm>
            <a:off x="7600390" y="8667450"/>
            <a:ext cx="3577622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8" name="Freeform 48"/>
          <p:cNvSpPr/>
          <p:nvPr/>
        </p:nvSpPr>
        <p:spPr>
          <a:xfrm>
            <a:off x="7716442" y="8350721"/>
            <a:ext cx="3148891" cy="1733858"/>
          </a:xfrm>
          <a:custGeom>
            <a:avLst/>
            <a:gdLst/>
            <a:ahLst/>
            <a:cxnLst/>
            <a:rect l="l" t="t" r="r" b="b"/>
            <a:pathLst>
              <a:path w="3148891" h="1733858">
                <a:moveTo>
                  <a:pt x="0" y="0"/>
                </a:moveTo>
                <a:lnTo>
                  <a:pt x="3148891" y="0"/>
                </a:lnTo>
                <a:lnTo>
                  <a:pt x="3148891" y="1733858"/>
                </a:lnTo>
                <a:lnTo>
                  <a:pt x="0" y="173385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ja-JP" altLang="en-US"/>
          </a:p>
        </p:txBody>
      </p:sp>
      <p:sp>
        <p:nvSpPr>
          <p:cNvPr id="49" name="AutoShape 49"/>
          <p:cNvSpPr/>
          <p:nvPr/>
        </p:nvSpPr>
        <p:spPr>
          <a:xfrm>
            <a:off x="15862469" y="6521281"/>
            <a:ext cx="11487" cy="68506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0" name="Freeform 50"/>
          <p:cNvSpPr/>
          <p:nvPr/>
        </p:nvSpPr>
        <p:spPr>
          <a:xfrm>
            <a:off x="14764894" y="6685317"/>
            <a:ext cx="3435194" cy="1897945"/>
          </a:xfrm>
          <a:custGeom>
            <a:avLst/>
            <a:gdLst/>
            <a:ahLst/>
            <a:cxnLst/>
            <a:rect l="l" t="t" r="r" b="b"/>
            <a:pathLst>
              <a:path w="3435194" h="1897945">
                <a:moveTo>
                  <a:pt x="0" y="0"/>
                </a:moveTo>
                <a:lnTo>
                  <a:pt x="3435194" y="0"/>
                </a:lnTo>
                <a:lnTo>
                  <a:pt x="3435194" y="1897944"/>
                </a:lnTo>
                <a:lnTo>
                  <a:pt x="0" y="1897944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ja-JP" altLang="en-US"/>
          </a:p>
        </p:txBody>
      </p:sp>
      <p:sp>
        <p:nvSpPr>
          <p:cNvPr id="51" name="TextBox 51"/>
          <p:cNvSpPr txBox="1"/>
          <p:nvPr/>
        </p:nvSpPr>
        <p:spPr>
          <a:xfrm>
            <a:off x="3106192" y="473703"/>
            <a:ext cx="4332846" cy="8784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194"/>
              </a:lnSpc>
              <a:spcBef>
                <a:spcPct val="0"/>
              </a:spcBef>
            </a:pPr>
            <a:r>
              <a:rPr lang="en-US" sz="5139">
                <a:solidFill>
                  <a:srgbClr val="000000"/>
                </a:solidFill>
                <a:latin typeface="マキナス Square"/>
                <a:ea typeface="マキナス Square"/>
                <a:cs typeface="マキナス Square"/>
                <a:sym typeface="マキナス Square"/>
              </a:rPr>
              <a:t>ゲームの流れ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1368548" y="4355536"/>
            <a:ext cx="2132741" cy="13673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17"/>
              </a:lnSpc>
            </a:pPr>
            <a:r>
              <a:rPr lang="en-US" sz="2584">
                <a:solidFill>
                  <a:srgbClr val="000000"/>
                </a:solidFill>
                <a:latin typeface="マキナス Square"/>
                <a:ea typeface="マキナス Square"/>
                <a:cs typeface="マキナス Square"/>
                <a:sym typeface="マキナス Square"/>
              </a:rPr>
              <a:t>タイトル</a:t>
            </a:r>
          </a:p>
          <a:p>
            <a:pPr algn="ctr">
              <a:lnSpc>
                <a:spcPts val="3617"/>
              </a:lnSpc>
            </a:pPr>
            <a:r>
              <a:rPr lang="en-US" sz="2584">
                <a:solidFill>
                  <a:srgbClr val="000000"/>
                </a:solidFill>
                <a:latin typeface="マキナス Square"/>
                <a:ea typeface="マキナス Square"/>
                <a:cs typeface="マキナス Square"/>
                <a:sym typeface="マキナス Square"/>
              </a:rPr>
              <a:t>↓</a:t>
            </a:r>
          </a:p>
          <a:p>
            <a:pPr algn="ctr">
              <a:lnSpc>
                <a:spcPts val="3617"/>
              </a:lnSpc>
              <a:spcBef>
                <a:spcPct val="0"/>
              </a:spcBef>
            </a:pPr>
            <a:r>
              <a:rPr lang="en-US" sz="2584">
                <a:solidFill>
                  <a:srgbClr val="000000"/>
                </a:solidFill>
                <a:latin typeface="マキナス Square"/>
                <a:ea typeface="マキナス Square"/>
                <a:cs typeface="マキナス Square"/>
                <a:sym typeface="マキナス Square"/>
              </a:rPr>
              <a:t>Ready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4291939" y="7549874"/>
            <a:ext cx="2429095" cy="4501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17"/>
              </a:lnSpc>
              <a:spcBef>
                <a:spcPct val="0"/>
              </a:spcBef>
            </a:pPr>
            <a:r>
              <a:rPr lang="en-US" sz="2584">
                <a:solidFill>
                  <a:srgbClr val="000000"/>
                </a:solidFill>
                <a:latin typeface="マキナス Square"/>
                <a:ea typeface="マキナス Square"/>
                <a:cs typeface="マキナス Square"/>
                <a:sym typeface="マキナス Square"/>
              </a:rPr>
              <a:t>通常ステージ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7907210" y="4814161"/>
            <a:ext cx="2218122" cy="4501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17"/>
              </a:lnSpc>
              <a:spcBef>
                <a:spcPct val="0"/>
              </a:spcBef>
            </a:pPr>
            <a:r>
              <a:rPr lang="en-US" sz="2584">
                <a:solidFill>
                  <a:srgbClr val="000000"/>
                </a:solidFill>
                <a:latin typeface="マキナス Square"/>
                <a:ea typeface="マキナス Square"/>
                <a:cs typeface="マキナス Square"/>
                <a:sym typeface="マキナス Square"/>
              </a:rPr>
              <a:t>ボス戦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11294364" y="7378511"/>
            <a:ext cx="2051101" cy="9087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17"/>
              </a:lnSpc>
            </a:pPr>
            <a:r>
              <a:rPr lang="en-US" sz="2584">
                <a:solidFill>
                  <a:srgbClr val="000000"/>
                </a:solidFill>
                <a:latin typeface="マキナス Square"/>
                <a:ea typeface="マキナス Square"/>
                <a:cs typeface="マキナス Square"/>
                <a:sym typeface="マキナス Square"/>
              </a:rPr>
              <a:t>ステージ</a:t>
            </a:r>
          </a:p>
          <a:p>
            <a:pPr algn="ctr">
              <a:lnSpc>
                <a:spcPts val="3617"/>
              </a:lnSpc>
              <a:spcBef>
                <a:spcPct val="0"/>
              </a:spcBef>
            </a:pPr>
            <a:r>
              <a:rPr lang="en-US" sz="2584">
                <a:solidFill>
                  <a:srgbClr val="000000"/>
                </a:solidFill>
                <a:latin typeface="マキナス Square"/>
                <a:ea typeface="マキナス Square"/>
                <a:cs typeface="マキナス Square"/>
                <a:sym typeface="マキナス Square"/>
              </a:rPr>
              <a:t>クりア　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14764894" y="4889855"/>
            <a:ext cx="2218122" cy="4501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17"/>
              </a:lnSpc>
              <a:spcBef>
                <a:spcPct val="0"/>
              </a:spcBef>
            </a:pPr>
            <a:r>
              <a:rPr lang="en-US" sz="2584">
                <a:solidFill>
                  <a:srgbClr val="000000"/>
                </a:solidFill>
                <a:latin typeface="マキナス Square"/>
                <a:ea typeface="マキナス Square"/>
                <a:cs typeface="マキナス Square"/>
                <a:sym typeface="マキナス Square"/>
              </a:rPr>
              <a:t>次ステージへ</a:t>
            </a:r>
          </a:p>
        </p:txBody>
      </p:sp>
      <p:sp>
        <p:nvSpPr>
          <p:cNvPr id="57" name="AutoShape 57"/>
          <p:cNvSpPr/>
          <p:nvPr/>
        </p:nvSpPr>
        <p:spPr>
          <a:xfrm flipH="1">
            <a:off x="2211638" y="3571172"/>
            <a:ext cx="213893" cy="17549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ja-JP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BAB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791912"/>
            <a:ext cx="18288000" cy="8703176"/>
            <a:chOff x="0" y="0"/>
            <a:chExt cx="4816593" cy="229219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2292194"/>
            </a:xfrm>
            <a:custGeom>
              <a:avLst/>
              <a:gdLst/>
              <a:ahLst/>
              <a:cxnLst/>
              <a:rect l="l" t="t" r="r" b="b"/>
              <a:pathLst>
                <a:path w="4816592" h="2292194">
                  <a:moveTo>
                    <a:pt x="0" y="0"/>
                  </a:moveTo>
                  <a:lnTo>
                    <a:pt x="4816592" y="0"/>
                  </a:lnTo>
                  <a:lnTo>
                    <a:pt x="4816592" y="2292194"/>
                  </a:lnTo>
                  <a:lnTo>
                    <a:pt x="0" y="2292194"/>
                  </a:lnTo>
                  <a:close/>
                </a:path>
              </a:pathLst>
            </a:custGeom>
            <a:solidFill>
              <a:srgbClr val="F3FD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816593" cy="233981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729028" y="3627666"/>
            <a:ext cx="16829945" cy="28602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400"/>
              </a:lnSpc>
            </a:pPr>
            <a:r>
              <a:rPr lang="en-US" sz="8142">
                <a:solidFill>
                  <a:srgbClr val="000000"/>
                </a:solidFill>
                <a:latin typeface="マキナス Square"/>
                <a:ea typeface="マキナス Square"/>
                <a:cs typeface="マキナス Square"/>
                <a:sym typeface="マキナス Square"/>
              </a:rPr>
              <a:t>ご清聴ありがとう</a:t>
            </a:r>
          </a:p>
          <a:p>
            <a:pPr algn="ctr">
              <a:lnSpc>
                <a:spcPts val="11400"/>
              </a:lnSpc>
              <a:spcBef>
                <a:spcPct val="0"/>
              </a:spcBef>
            </a:pPr>
            <a:r>
              <a:rPr lang="en-US" sz="8142">
                <a:solidFill>
                  <a:srgbClr val="000000"/>
                </a:solidFill>
                <a:latin typeface="マキナス Square"/>
                <a:ea typeface="マキナス Square"/>
                <a:cs typeface="マキナス Square"/>
                <a:sym typeface="マキナス Square"/>
              </a:rPr>
              <a:t>ございました！！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122</Words>
  <Application>Microsoft Office PowerPoint</Application>
  <PresentationFormat>ユーザー設定</PresentationFormat>
  <Paragraphs>47</Paragraphs>
  <Slides>6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0" baseType="lpstr">
      <vt:lpstr>Calibri</vt:lpstr>
      <vt:lpstr>マキナス Square</vt:lpstr>
      <vt:lpstr>Arial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MAGIC SHOOTING ～属性を駆使して戦う魔法シューティングゲーム～</dc:title>
  <cp:lastModifiedBy>TAKAHASHI Tomoya</cp:lastModifiedBy>
  <cp:revision>1</cp:revision>
  <dcterms:created xsi:type="dcterms:W3CDTF">2006-08-16T00:00:00Z</dcterms:created>
  <dcterms:modified xsi:type="dcterms:W3CDTF">2026-07-28T23:08:48Z</dcterms:modified>
  <dc:identifier>DAHQr0-sTac</dc:identifier>
</cp:coreProperties>
</file>